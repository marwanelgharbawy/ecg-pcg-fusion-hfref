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636147178194d46" /><Relationship Type="http://schemas.openxmlformats.org/officeDocument/2006/relationships/extended-properties" Target="/docProps/app.xml" Id="R42ef1ba2acc741f6" /><Relationship Type="http://schemas.openxmlformats.org/officeDocument/2006/relationships/officeDocument" Target="/ppt/presentation.xml" Id="R66491b9e06c84e33" /></Relationships>
</file>

<file path=ppt/presentation.xml><?xml version="1.0" encoding="utf-8"?>
<p:presentation xmlns:p="http://schemas.openxmlformats.org/presentationml/2006/main">
  <p:sldMasterIdLst>
    <p:sldMasterId xmlns:r="http://schemas.openxmlformats.org/officeDocument/2006/relationships" id="2147483648" r:id="R16fe730e3b484669"/>
  </p:sldMasterIdLst>
  <p:notesMasterIdLst>
    <p:notesMasterId xmlns:r="http://schemas.openxmlformats.org/officeDocument/2006/relationships" r:id="Rb1f50811634a46ea"/>
  </p:notesMasterIdLst>
  <p:sldIdLst>
    <p:sldId xmlns:r="http://schemas.openxmlformats.org/officeDocument/2006/relationships" id="256" r:id="R1b71c76c50254fee"/>
    <p:sldId xmlns:r="http://schemas.openxmlformats.org/officeDocument/2006/relationships" id="257" r:id="Rbc097b8f90704121"/>
    <p:sldId xmlns:r="http://schemas.openxmlformats.org/officeDocument/2006/relationships" id="258" r:id="Rfea227b9aaa94f69"/>
    <p:sldId xmlns:r="http://schemas.openxmlformats.org/officeDocument/2006/relationships" id="259" r:id="R1ba2944b069c484a"/>
    <p:sldId xmlns:r="http://schemas.openxmlformats.org/officeDocument/2006/relationships" id="260" r:id="R08006d7524214f8c"/>
    <p:sldId xmlns:r="http://schemas.openxmlformats.org/officeDocument/2006/relationships" id="261" r:id="Rf36660b73b2a421c"/>
    <p:sldId xmlns:r="http://schemas.openxmlformats.org/officeDocument/2006/relationships" id="262" r:id="Rae92a4ea039c406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af1bac8f6b94a27" /><Relationship Type="http://schemas.openxmlformats.org/officeDocument/2006/relationships/slideMaster" Target="/ppt/slideMasters/slideMaster1.xml" Id="R16fe730e3b484669" /><Relationship Type="http://schemas.openxmlformats.org/officeDocument/2006/relationships/notesMaster" Target="/ppt/notesMasters/notesMaster1.xml" Id="Rb1f50811634a46ea" /><Relationship Type="http://schemas.openxmlformats.org/officeDocument/2006/relationships/presProps" Target="/ppt/presProps.xml" Id="Rd368187670724610" /><Relationship Type="http://schemas.openxmlformats.org/officeDocument/2006/relationships/tableStyles" Target="/ppt/tableStyles.xml" Id="Rdf2024271a9f4774" /><Relationship Type="http://schemas.openxmlformats.org/officeDocument/2006/relationships/slide" Target="/ppt/slides/slide1.xml" Id="R1b71c76c50254fee" /><Relationship Type="http://schemas.openxmlformats.org/officeDocument/2006/relationships/slide" Target="/ppt/slides/slide2.xml" Id="Rbc097b8f90704121" /><Relationship Type="http://schemas.openxmlformats.org/officeDocument/2006/relationships/slide" Target="/ppt/slides/slide3.xml" Id="Rfea227b9aaa94f69" /><Relationship Type="http://schemas.openxmlformats.org/officeDocument/2006/relationships/slide" Target="/ppt/slides/slide4.xml" Id="R1ba2944b069c484a" /><Relationship Type="http://schemas.openxmlformats.org/officeDocument/2006/relationships/slide" Target="/ppt/slides/slide5.xml" Id="R08006d7524214f8c" /><Relationship Type="http://schemas.openxmlformats.org/officeDocument/2006/relationships/slide" Target="/ppt/slides/slide6.xml" Id="Rf36660b73b2a421c" /><Relationship Type="http://schemas.openxmlformats.org/officeDocument/2006/relationships/slide" Target="/ppt/slides/slide7.xml" Id="Rae92a4ea039c406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8839136b0745b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e49f9754ff04955" /><Relationship Type="http://schemas.openxmlformats.org/officeDocument/2006/relationships/notesMaster" Target="/ppt/notesMasters/notesMaster1.xml" Id="R4fcc6bc9ffcb4bd3" /></Relationships>
</file>

<file path=ppt/notesSlides/_rels/notesSlide2.xml.rels>&#65279;<?xml version="1.0" encoding="utf-8"?><Relationships xmlns="http://schemas.openxmlformats.org/package/2006/relationships"><Relationship Type="http://schemas.openxmlformats.org/officeDocument/2006/relationships/slide" Target="/ppt/slides/slide2.xml" Id="R1d587135cbbb4bcc" /><Relationship Type="http://schemas.openxmlformats.org/officeDocument/2006/relationships/notesMaster" Target="/ppt/notesMasters/notesMaster1.xml" Id="Race4e16d33b64442" /></Relationships>
</file>

<file path=ppt/notesSlides/_rels/notesSlide3.xml.rels>&#65279;<?xml version="1.0" encoding="utf-8"?><Relationships xmlns="http://schemas.openxmlformats.org/package/2006/relationships"><Relationship Type="http://schemas.openxmlformats.org/officeDocument/2006/relationships/slide" Target="/ppt/slides/slide3.xml" Id="Rf8d7935bf2154e56" /><Relationship Type="http://schemas.openxmlformats.org/officeDocument/2006/relationships/notesMaster" Target="/ppt/notesMasters/notesMaster1.xml" Id="R3a690d0dee244f05" /></Relationships>
</file>

<file path=ppt/notesSlides/_rels/notesSlide4.xml.rels>&#65279;<?xml version="1.0" encoding="utf-8"?><Relationships xmlns="http://schemas.openxmlformats.org/package/2006/relationships"><Relationship Type="http://schemas.openxmlformats.org/officeDocument/2006/relationships/slide" Target="/ppt/slides/slide4.xml" Id="R7e3f825a0d50427b" /><Relationship Type="http://schemas.openxmlformats.org/officeDocument/2006/relationships/notesMaster" Target="/ppt/notesMasters/notesMaster1.xml" Id="Rb548d913a03849eb" /></Relationships>
</file>

<file path=ppt/notesSlides/_rels/notesSlide5.xml.rels>&#65279;<?xml version="1.0" encoding="utf-8"?><Relationships xmlns="http://schemas.openxmlformats.org/package/2006/relationships"><Relationship Type="http://schemas.openxmlformats.org/officeDocument/2006/relationships/slide" Target="/ppt/slides/slide5.xml" Id="Rf2ba0ba596a54e4f" /><Relationship Type="http://schemas.openxmlformats.org/officeDocument/2006/relationships/notesMaster" Target="/ppt/notesMasters/notesMaster1.xml" Id="R1ae21ad6ae9b4856" /></Relationships>
</file>

<file path=ppt/notesSlides/_rels/notesSlide6.xml.rels>&#65279;<?xml version="1.0" encoding="utf-8"?><Relationships xmlns="http://schemas.openxmlformats.org/package/2006/relationships"><Relationship Type="http://schemas.openxmlformats.org/officeDocument/2006/relationships/slide" Target="/ppt/slides/slide6.xml" Id="R6b2eba4224fd45f4" /><Relationship Type="http://schemas.openxmlformats.org/officeDocument/2006/relationships/notesMaster" Target="/ppt/notesMasters/notesMaster1.xml" Id="R31802941e2894845" /></Relationships>
</file>

<file path=ppt/notesSlides/_rels/notesSlide7.xml.rels>&#65279;<?xml version="1.0" encoding="utf-8"?><Relationships xmlns="http://schemas.openxmlformats.org/package/2006/relationships"><Relationship Type="http://schemas.openxmlformats.org/officeDocument/2006/relationships/slide" Target="/ppt/slides/slide7.xml" Id="Rbffb5ea2c9064e68" /><Relationship Type="http://schemas.openxmlformats.org/officeDocument/2006/relationships/notesMaster" Target="/ppt/notesMasters/notesMaster1.xml" Id="Rcb3d19a71e9e48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Progress presentation. The ECG encoder predicts HFrEF. Four channels here means the four site recordings grouped for one patient: APEX, LLSB, LUSB and RUSB.</a:t>
            </a:r>
          </a:p>
          <a:p xmlns:a="http://schemas.openxmlformats.org/drawingml/2006/main">
            <a:r>
              <a:t/>
            </a:r>
          </a:p>
          <a:p xmlns:a="http://schemas.openxmlformats.org/drawingml/2006/main">
            <a:r>
              <a:t>Sources: Untitled document.pdf, pp. 1–6; git 82be782 and 016cfc2, notebooks/2_ecg_baseline.ipynb; current notebooks/2_ecg_baseline.ipynb and notebooks/3_ecg_5second_segments.ipynb; models/ecg_5s/fold0_seed42/comparison.csv. All values are saved experimental results, not clinical performance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Experiment 1. AUROC validation 0.6858, test 0.7921. Weighted BCE, 10 epochs. Validation counts TN=1319 FP=751 FN=118 TP=212. Test counts TN=1802 FP=958 FN=27 TP=93. Positive-class F1 is 0.3279196 validation and 0.1588386 test. Metrics are calculated from the counts, with AUROC from notebook outputs. Segment counts are not independent patient counts. The legacy split and unit differ from the later patient split, so the comparison is historical rather than a controlled ablation.</a:t>
            </a:r>
          </a:p>
          <a:p xmlns:a="http://schemas.openxmlformats.org/drawingml/2006/main">
            <a:r>
              <a:t/>
            </a:r>
          </a:p>
          <a:p xmlns:a="http://schemas.openxmlformats.org/drawingml/2006/main">
            <a:r>
              <a:t>Sources: Untitled document.pdf, pp. 1–6; git 82be782 and 016cfc2, notebooks/2_ecg_baseline.ipynb; current notebooks/2_ecg_baseline.ipynb and notebooks/3_ecg_5second_segments.ipynb; models/ecg_5s/fold0_seed42/comparison.csv. All values are saved experimental results, not clinical performance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Experiment 2. Focal loss alpha=.88 gamma=2, 50 epochs. Best validation AUROC .6995, cutoff .5895, validation TN=276 FP=69 FN=25 TP=30. Exact F1=60/154=.3896104, correcting an inconsistent rounded narrative in earlier notes. Legacy test AUROC=.6160, TN=1735 FP=1025 FN=49 TP=71, total=2880 segments. Because the saved test pipeline still segmented its input, these test results do not isolate the effect of removing segmentation. Main observation is the modest validation change.</a:t>
            </a:r>
          </a:p>
          <a:p xmlns:a="http://schemas.openxmlformats.org/drawingml/2006/main">
            <a:r>
              <a:t/>
            </a:r>
          </a:p>
          <a:p xmlns:a="http://schemas.openxmlformats.org/drawingml/2006/main">
            <a:r>
              <a:t>Sources: Untitled document.pdf, pp. 1–6; git 82be782 and 016cfc2, notebooks/2_ecg_baseline.ipynb; current notebooks/2_ecg_baseline.ipynb and notebooks/3_ecg_5second_segments.ipynb; models/ecg_5s/fold0_seed42/comparison.csv. All values are saved experimental results, not clinical performance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Experiment 3. Preprocessing stacks 4 x 15000 ECG samples in a fixed site order. Per-channel filtering and z-score normalization remain. Input channels changed from 1 to 4; residual convolution blocks and global average/max pooling replaced the older small CNN. A patient-based fold split prevents a patient from spanning training and validation. The proposed mechanism is more patient context and a richer encoder, but no ablation isolates which change caused the gain. Validation cutoff .5117487311, TN80 FP8 FN1 TP11. Test TN111 FP4 FN0 TP5. Only 5 positive test patients, so one case changes recall by 20 percentage points. Site labels identify recording sites and are not a claim that these are four standard simultaneous ECG leads.</a:t>
            </a:r>
          </a:p>
          <a:p xmlns:a="http://schemas.openxmlformats.org/drawingml/2006/main">
            <a:r>
              <a:t/>
            </a:r>
          </a:p>
          <a:p xmlns:a="http://schemas.openxmlformats.org/drawingml/2006/main">
            <a:r>
              <a:t>Sources: Untitled document.pdf, pp. 1–6; git 82be782 and 016cfc2, notebooks/2_ecg_baseline.ipynb; current notebooks/2_ecg_baseline.ipynb and notebooks/3_ecg_5second_segments.ipynb; models/ecg_5s/fold0_seed42/comparison.csv. All values are saved experimental results, not clinical performance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Experiment 4. Fresh weights with the same four-channel architecture, not a reshape of the trained 30-second model. Adaptive pooling accepts the shorter input. Raw windows are cropped before filtering and normalization to avoid using later samples in the first-window prediction. Each 30-second record produces 6 non-overlapping five-second windows; incomplete final windows are discarded. Splits are made by patient before windows. Training has 400 patients and 2400 windows. Threshold for single windows .41620755 is selected on validation. First five seconds: validation TP10 FN2 FP11 TN77, test TP4 FN1 FP19 TN96. Lower recording requirement does not establish a measured inference-speed improvement.</a:t>
            </a:r>
          </a:p>
          <a:p xmlns:a="http://schemas.openxmlformats.org/drawingml/2006/main">
            <a:r>
              <a:t/>
            </a:r>
          </a:p>
          <a:p xmlns:a="http://schemas.openxmlformats.org/drawingml/2006/main">
            <a:r>
              <a:t>Sources: Untitled document.pdf, pp. 1–6; git 82be782 and 016cfc2, notebooks/2_ecg_baseline.ipynb; current notebooks/2_ecg_baseline.ipynb and notebooks/3_ecg_5second_segments.ipynb; models/ecg_5s/fold0_seed42/comparison.csv. All values are saved experimental results, not clinical performance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Window-position results are descriptive test analysis, not a basis for choosing a preferred window using test performance. All use a frozen single-window threshold .41620755. Overall agreement is 96/120=80%, including 92 negatives and 4 positives. Agreement does not equal correctness: 5 negative patients are incorrectly positive in all windows. One positive patient is negative in windows 0,1,2 and positive in 3,4,5. The graph plots positive-class F1 with a common 0 to 1 scale. No claim that later windows are universally better.</a:t>
            </a:r>
          </a:p>
          <a:p xmlns:a="http://schemas.openxmlformats.org/drawingml/2006/main">
            <a:r>
              <a:t/>
            </a:r>
          </a:p>
          <a:p xmlns:a="http://schemas.openxmlformats.org/drawingml/2006/main">
            <a:r>
              <a:t>Sources: Untitled document.pdf, pp. 1–6; git 82be782 and 016cfc2, notebooks/2_ecg_baseline.ipynb; current notebooks/2_ecg_baseline.ipynb and notebooks/3_ecg_5second_segments.ipynb; models/ecg_5s/fold0_seed42/comparison.csv. All values are saved experimental results, not clinical performance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ROC curves reconstructed from saved patient probabilities. Trapezoidal areas independently verified: .9982608695652174 full30, .92 first5, .9739130434782609 mean6. Native chart data retains every ROC point including ties. Mean6 threshold .546824038; majority uses the single-window threshold and mean6 threshold to break 3–3 ties. Mean6 test TP4 FN1 FP4 TN111; majority TP4 FN1 FP8 TN107; full30 TP5 FN0 FP4 TN111. Improvement in thresholded metrics reflects aggregation and separately validation-selected thresholds, not averaging alone. A 12-second input yields two full windows and discards the final two seconds. Next steps: assess all patient folds and additional seeds, estimate uncertainty with more positive patients, and run matched one-vs-four-channel ablations to separate input grouping from network changes.</a:t>
            </a:r>
          </a:p>
          <a:p xmlns:a="http://schemas.openxmlformats.org/drawingml/2006/main">
            <a:r>
              <a:t/>
            </a:r>
          </a:p>
          <a:p xmlns:a="http://schemas.openxmlformats.org/drawingml/2006/main">
            <a:r>
              <a:t>Sources: Untitled document.pdf, pp. 1–6; git 82be782 and 016cfc2, notebooks/2_ecg_baseline.ipynb; current notebooks/2_ecg_baseline.ipynb and notebooks/3_ecg_5second_segments.ipynb; models/ecg_5s/fold0_seed42/comparison.csv. All values are saved experimental results, not clinical performance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9d1938a76994cc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55e5e60a84243f8" /><Relationship Type="http://schemas.openxmlformats.org/officeDocument/2006/relationships/slideLayout" Target="/ppt/slideLayouts/slideLayout1.xml" Id="R316e41b0d95842c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16e41b0d95842c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9510398a8424466" /><Relationship Type="http://schemas.openxmlformats.org/officeDocument/2006/relationships/notesSlide" Target="/ppt/notesSlides/notesSlide1.xml" Id="Rb08f96c392d4468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7381bb9be3b42bc" /><Relationship Type="http://schemas.openxmlformats.org/officeDocument/2006/relationships/notesSlide" Target="/ppt/notesSlides/notesSlide2.xml" Id="R78ace90773864ae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bf7afd3850444ec" /><Relationship Type="http://schemas.openxmlformats.org/officeDocument/2006/relationships/notesSlide" Target="/ppt/notesSlides/notesSlide3.xml" Id="R4a1086a10614472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79ed4643036483a" /><Relationship Type="http://schemas.openxmlformats.org/officeDocument/2006/relationships/notesSlide" Target="/ppt/notesSlides/notesSlide4.xml" Id="R19a31129466b4c9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fbbb0803a1f4b8b" /><Relationship Type="http://schemas.openxmlformats.org/officeDocument/2006/relationships/notesSlide" Target="/ppt/notesSlides/notesSlide5.xml" Id="Ra4b2a9edaab5424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5617e3ce29443e0" /><Relationship Type="http://schemas.openxmlformats.org/officeDocument/2006/relationships/chart" Target="/ppt/slides/charts/chart1.xml" Id="Rfb0a385ffe834e89" /><Relationship Type="http://schemas.openxmlformats.org/officeDocument/2006/relationships/notesSlide" Target="/ppt/notesSlides/notesSlide6.xml" Id="Rd27f9f831b774f0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24ec6212fa649c8" /><Relationship Type="http://schemas.openxmlformats.org/officeDocument/2006/relationships/chart" Target="/ppt/slides/charts/chart2.xml" Id="R0dd8029fec644ea8" /><Relationship Type="http://schemas.openxmlformats.org/officeDocument/2006/relationships/notesSlide" Target="/ppt/notesSlides/notesSlide7.xml" Id="Raf05d15a410a465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HFrEF F1</c:v>
          </c:tx>
          <c:spPr>
            <a:ln xmlns:a="http://schemas.openxmlformats.org/drawingml/2006/main" w="28575">
              <a:solidFill>
                <a:srgbClr val="000000"/>
              </a:solidFill>
              <a:prstDash val="solid"/>
            </a:ln>
          </c:spPr>
          <c:marker>
            <c:symbol val="circle"/>
            <c:size val="6"/>
            <c:spPr>
              <a:solidFill xmlns:a="http://schemas.openxmlformats.org/drawingml/2006/main">
                <a:srgbClr val="000000"/>
              </a:solidFill>
            </c:spPr>
          </c:marker>
          <c:cat>
            <c:strRef>
              <c:f>'Chart Data'!$A$2:$A$7</c:f>
              <c:strCache>
                <c:ptCount val="6"/>
                <c:pt idx="0">
                  <c:v>0–5</c:v>
                </c:pt>
                <c:pt idx="1">
                  <c:v>5–10</c:v>
                </c:pt>
                <c:pt idx="2">
                  <c:v>10–15</c:v>
                </c:pt>
                <c:pt idx="3">
                  <c:v>15–20</c:v>
                </c:pt>
                <c:pt idx="4">
                  <c:v>20–25</c:v>
                </c:pt>
                <c:pt idx="5">
                  <c:v>25–30</c:v>
                </c:pt>
              </c:strCache>
            </c:strRef>
          </c:cat>
          <c:val>
            <c:numRef>
              <c:f>'Chart Data'!$B$2:$B$7</c:f>
              <c:numCache>
                <c:formatCode>0%</c:formatCode>
                <c:ptCount val="6"/>
                <c:pt idx="0">
                  <c:v>0.285714285714</c:v>
                </c:pt>
                <c:pt idx="1">
                  <c:v>0.4</c:v>
                </c:pt>
                <c:pt idx="2">
                  <c:v>0.380952380952</c:v>
                </c:pt>
                <c:pt idx="3">
                  <c:v>0.416666666667</c:v>
                </c:pt>
                <c:pt idx="4">
                  <c:v>0.47619047619</c:v>
                </c:pt>
                <c:pt idx="5">
                  <c:v>0.526315789474</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Window (seconds)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28575">
            <a:solidFill>
              <a:srgbClr val="B0B0B0"/>
            </a:solidFill>
            <a:prstDash val="solid"/>
          </a:ln>
        </c:spPr>
        <c:txPr>
          <a:bodyPr xmlns:a="http://schemas.openxmlformats.org/drawingml/2006/main" anchorCtr="1"/>
          <a:lstStyle xmlns:a="http://schemas.openxmlformats.org/drawingml/2006/main"/>
          <a:p xmlns:a="http://schemas.openxmlformats.org/drawingml/2006/main">
            <a:pPr>
              <a:defRPr sz="1500">
                <a:solidFill>
                  <a:srgbClr val="000000"/>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5715">
              <a:solidFill>
                <a:srgbClr val="D0D0D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F1</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000000"/>
                </a:solidFill>
                <a:latin typeface="Arial"/>
                <a:ea typeface="Arial"/>
                <a:cs typeface="Arial"/>
              </a:defRPr>
            </a:pPr>
          </a:p>
        </c:txPr>
        <c:crossAx val="48650112"/>
        <c:crossBetween val="between"/>
        <c:majorUnit val="0.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Full 30 s</c:v>
          </c:tx>
          <c:spPr>
            <a:ln xmlns:a="http://schemas.openxmlformats.org/drawingml/2006/main" w="28575">
              <a:solidFill>
                <a:srgbClr val="000000"/>
              </a:solidFill>
              <a:prstDash val="solid"/>
            </a:ln>
          </c:spPr>
          <c:marker>
            <c:symbol val="none"/>
          </c:marker>
          <c:xVal>
            <c:numRef>
              <c:f>'Chart Data'!$A$2:$A$122</c:f>
              <c:numCache>
                <c:formatCode>General</c:formatCode>
                <c:ptCount val="121"/>
                <c:pt idx="0">
                  <c:v>0</c:v>
                </c:pt>
                <c:pt idx="1">
                  <c:v>0</c:v>
                </c:pt>
                <c:pt idx="2">
                  <c:v>0</c:v>
                </c:pt>
                <c:pt idx="3">
                  <c:v>0</c:v>
                </c:pt>
                <c:pt idx="4">
                  <c:v>0</c:v>
                </c:pt>
                <c:pt idx="5">
                  <c:v>0.008695652174</c:v>
                </c:pt>
                <c:pt idx="6">
                  <c:v>0.008695652174</c:v>
                </c:pt>
                <c:pt idx="7">
                  <c:v>0.017391304348</c:v>
                </c:pt>
                <c:pt idx="8">
                  <c:v>0.026086956522</c:v>
                </c:pt>
                <c:pt idx="9">
                  <c:v>0.034782608696</c:v>
                </c:pt>
                <c:pt idx="10">
                  <c:v>0.04347826087</c:v>
                </c:pt>
                <c:pt idx="11">
                  <c:v>0.052173913043</c:v>
                </c:pt>
                <c:pt idx="12">
                  <c:v>0.060869565217</c:v>
                </c:pt>
                <c:pt idx="13">
                  <c:v>0.069565217391</c:v>
                </c:pt>
                <c:pt idx="14">
                  <c:v>0.078260869565</c:v>
                </c:pt>
                <c:pt idx="15">
                  <c:v>0.086956521739</c:v>
                </c:pt>
                <c:pt idx="16">
                  <c:v>0.095652173913</c:v>
                </c:pt>
                <c:pt idx="17">
                  <c:v>0.104347826087</c:v>
                </c:pt>
                <c:pt idx="18">
                  <c:v>0.113043478261</c:v>
                </c:pt>
                <c:pt idx="19">
                  <c:v>0.121739130435</c:v>
                </c:pt>
                <c:pt idx="20">
                  <c:v>0.130434782609</c:v>
                </c:pt>
                <c:pt idx="21">
                  <c:v>0.139130434783</c:v>
                </c:pt>
                <c:pt idx="22">
                  <c:v>0.147826086957</c:v>
                </c:pt>
                <c:pt idx="23">
                  <c:v>0.15652173913</c:v>
                </c:pt>
                <c:pt idx="24">
                  <c:v>0.165217391304</c:v>
                </c:pt>
                <c:pt idx="25">
                  <c:v>0.173913043478</c:v>
                </c:pt>
                <c:pt idx="26">
                  <c:v>0.182608695652</c:v>
                </c:pt>
                <c:pt idx="27">
                  <c:v>0.191304347826</c:v>
                </c:pt>
                <c:pt idx="28">
                  <c:v>0.2</c:v>
                </c:pt>
                <c:pt idx="29">
                  <c:v>0.208695652174</c:v>
                </c:pt>
                <c:pt idx="30">
                  <c:v>0.217391304348</c:v>
                </c:pt>
                <c:pt idx="31">
                  <c:v>0.226086956522</c:v>
                </c:pt>
                <c:pt idx="32">
                  <c:v>0.234782608696</c:v>
                </c:pt>
                <c:pt idx="33">
                  <c:v>0.24347826087</c:v>
                </c:pt>
                <c:pt idx="34">
                  <c:v>0.252173913043</c:v>
                </c:pt>
                <c:pt idx="35">
                  <c:v>0.260869565217</c:v>
                </c:pt>
                <c:pt idx="36">
                  <c:v>0.269565217391</c:v>
                </c:pt>
                <c:pt idx="37">
                  <c:v>0.278260869565</c:v>
                </c:pt>
                <c:pt idx="38">
                  <c:v>0.286956521739</c:v>
                </c:pt>
                <c:pt idx="39">
                  <c:v>0.295652173913</c:v>
                </c:pt>
                <c:pt idx="40">
                  <c:v>0.304347826087</c:v>
                </c:pt>
                <c:pt idx="41">
                  <c:v>0.313043478261</c:v>
                </c:pt>
                <c:pt idx="42">
                  <c:v>0.321739130435</c:v>
                </c:pt>
                <c:pt idx="43">
                  <c:v>0.330434782609</c:v>
                </c:pt>
                <c:pt idx="44">
                  <c:v>0.339130434783</c:v>
                </c:pt>
                <c:pt idx="45">
                  <c:v>0.347826086957</c:v>
                </c:pt>
                <c:pt idx="46">
                  <c:v>0.35652173913</c:v>
                </c:pt>
                <c:pt idx="47">
                  <c:v>0.365217391304</c:v>
                </c:pt>
                <c:pt idx="48">
                  <c:v>0.373913043478</c:v>
                </c:pt>
                <c:pt idx="49">
                  <c:v>0.382608695652</c:v>
                </c:pt>
                <c:pt idx="50">
                  <c:v>0.391304347826</c:v>
                </c:pt>
                <c:pt idx="51">
                  <c:v>0.4</c:v>
                </c:pt>
                <c:pt idx="52">
                  <c:v>0.408695652174</c:v>
                </c:pt>
                <c:pt idx="53">
                  <c:v>0.417391304348</c:v>
                </c:pt>
                <c:pt idx="54">
                  <c:v>0.426086956522</c:v>
                </c:pt>
                <c:pt idx="55">
                  <c:v>0.434782608696</c:v>
                </c:pt>
                <c:pt idx="56">
                  <c:v>0.44347826087</c:v>
                </c:pt>
                <c:pt idx="57">
                  <c:v>0.452173913043</c:v>
                </c:pt>
                <c:pt idx="58">
                  <c:v>0.460869565217</c:v>
                </c:pt>
                <c:pt idx="59">
                  <c:v>0.469565217391</c:v>
                </c:pt>
                <c:pt idx="60">
                  <c:v>0.478260869565</c:v>
                </c:pt>
                <c:pt idx="61">
                  <c:v>0.486956521739</c:v>
                </c:pt>
                <c:pt idx="62">
                  <c:v>0.495652173913</c:v>
                </c:pt>
                <c:pt idx="63">
                  <c:v>0.504347826087</c:v>
                </c:pt>
                <c:pt idx="64">
                  <c:v>0.513043478261</c:v>
                </c:pt>
                <c:pt idx="65">
                  <c:v>0.521739130435</c:v>
                </c:pt>
                <c:pt idx="66">
                  <c:v>0.530434782609</c:v>
                </c:pt>
                <c:pt idx="67">
                  <c:v>0.539130434783</c:v>
                </c:pt>
                <c:pt idx="68">
                  <c:v>0.547826086957</c:v>
                </c:pt>
                <c:pt idx="69">
                  <c:v>0.55652173913</c:v>
                </c:pt>
                <c:pt idx="70">
                  <c:v>0.565217391304</c:v>
                </c:pt>
                <c:pt idx="71">
                  <c:v>0.573913043478</c:v>
                </c:pt>
                <c:pt idx="72">
                  <c:v>0.582608695652</c:v>
                </c:pt>
                <c:pt idx="73">
                  <c:v>0.591304347826</c:v>
                </c:pt>
                <c:pt idx="74">
                  <c:v>0.6</c:v>
                </c:pt>
                <c:pt idx="75">
                  <c:v>0.608695652174</c:v>
                </c:pt>
                <c:pt idx="76">
                  <c:v>0.617391304348</c:v>
                </c:pt>
                <c:pt idx="77">
                  <c:v>0.626086956522</c:v>
                </c:pt>
                <c:pt idx="78">
                  <c:v>0.634782608696</c:v>
                </c:pt>
                <c:pt idx="79">
                  <c:v>0.64347826087</c:v>
                </c:pt>
                <c:pt idx="80">
                  <c:v>0.652173913043</c:v>
                </c:pt>
                <c:pt idx="81">
                  <c:v>0.660869565217</c:v>
                </c:pt>
                <c:pt idx="82">
                  <c:v>0.669565217391</c:v>
                </c:pt>
                <c:pt idx="83">
                  <c:v>0.678260869565</c:v>
                </c:pt>
                <c:pt idx="84">
                  <c:v>0.686956521739</c:v>
                </c:pt>
                <c:pt idx="85">
                  <c:v>0.695652173913</c:v>
                </c:pt>
                <c:pt idx="86">
                  <c:v>0.704347826087</c:v>
                </c:pt>
                <c:pt idx="87">
                  <c:v>0.713043478261</c:v>
                </c:pt>
                <c:pt idx="88">
                  <c:v>0.721739130435</c:v>
                </c:pt>
                <c:pt idx="89">
                  <c:v>0.730434782609</c:v>
                </c:pt>
                <c:pt idx="90">
                  <c:v>0.739130434783</c:v>
                </c:pt>
                <c:pt idx="91">
                  <c:v>0.747826086957</c:v>
                </c:pt>
                <c:pt idx="92">
                  <c:v>0.75652173913</c:v>
                </c:pt>
                <c:pt idx="93">
                  <c:v>0.765217391304</c:v>
                </c:pt>
                <c:pt idx="94">
                  <c:v>0.773913043478</c:v>
                </c:pt>
                <c:pt idx="95">
                  <c:v>0.782608695652</c:v>
                </c:pt>
                <c:pt idx="96">
                  <c:v>0.791304347826</c:v>
                </c:pt>
                <c:pt idx="97">
                  <c:v>0.8</c:v>
                </c:pt>
                <c:pt idx="98">
                  <c:v>0.808695652174</c:v>
                </c:pt>
                <c:pt idx="99">
                  <c:v>0.817391304348</c:v>
                </c:pt>
                <c:pt idx="100">
                  <c:v>0.826086956522</c:v>
                </c:pt>
                <c:pt idx="101">
                  <c:v>0.834782608696</c:v>
                </c:pt>
                <c:pt idx="102">
                  <c:v>0.84347826087</c:v>
                </c:pt>
                <c:pt idx="103">
                  <c:v>0.852173913043</c:v>
                </c:pt>
                <c:pt idx="104">
                  <c:v>0.860869565217</c:v>
                </c:pt>
                <c:pt idx="105">
                  <c:v>0.869565217391</c:v>
                </c:pt>
                <c:pt idx="106">
                  <c:v>0.878260869565</c:v>
                </c:pt>
                <c:pt idx="107">
                  <c:v>0.886956521739</c:v>
                </c:pt>
                <c:pt idx="108">
                  <c:v>0.895652173913</c:v>
                </c:pt>
                <c:pt idx="109">
                  <c:v>0.904347826087</c:v>
                </c:pt>
                <c:pt idx="110">
                  <c:v>0.913043478261</c:v>
                </c:pt>
                <c:pt idx="111">
                  <c:v>0.921739130435</c:v>
                </c:pt>
                <c:pt idx="112">
                  <c:v>0.930434782609</c:v>
                </c:pt>
                <c:pt idx="113">
                  <c:v>0.939130434783</c:v>
                </c:pt>
                <c:pt idx="114">
                  <c:v>0.947826086957</c:v>
                </c:pt>
                <c:pt idx="115">
                  <c:v>0.95652173913</c:v>
                </c:pt>
                <c:pt idx="116">
                  <c:v>0.965217391304</c:v>
                </c:pt>
                <c:pt idx="117">
                  <c:v>0.973913043478</c:v>
                </c:pt>
                <c:pt idx="118">
                  <c:v>0.982608695652</c:v>
                </c:pt>
                <c:pt idx="119">
                  <c:v>0.991304347826</c:v>
                </c:pt>
                <c:pt idx="120">
                  <c:v>1</c:v>
                </c:pt>
              </c:numCache>
            </c:numRef>
          </c:xVal>
          <c:yVal>
            <c:numRef>
              <c:f>'Chart Data'!$B$2:$B$122</c:f>
              <c:numCache>
                <c:formatCode>0.0</c:formatCode>
                <c:ptCount val="121"/>
                <c:pt idx="0">
                  <c:v>0</c:v>
                </c:pt>
                <c:pt idx="1">
                  <c:v>0.2</c:v>
                </c:pt>
                <c:pt idx="2">
                  <c:v>0.4</c:v>
                </c:pt>
                <c:pt idx="3">
                  <c:v>0.6</c:v>
                </c:pt>
                <c:pt idx="4">
                  <c:v>0.8</c:v>
                </c:pt>
                <c:pt idx="5">
                  <c:v>0.8</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pt idx="80">
                  <c:v>1</c:v>
                </c:pt>
                <c:pt idx="81">
                  <c:v>1</c:v>
                </c:pt>
                <c:pt idx="82">
                  <c:v>1</c:v>
                </c:pt>
                <c:pt idx="83">
                  <c:v>1</c:v>
                </c:pt>
                <c:pt idx="84">
                  <c:v>1</c:v>
                </c:pt>
                <c:pt idx="85">
                  <c:v>1</c:v>
                </c:pt>
                <c:pt idx="86">
                  <c:v>1</c:v>
                </c:pt>
                <c:pt idx="87">
                  <c:v>1</c:v>
                </c:pt>
                <c:pt idx="88">
                  <c:v>1</c:v>
                </c:pt>
                <c:pt idx="89">
                  <c:v>1</c:v>
                </c:pt>
                <c:pt idx="90">
                  <c:v>1</c:v>
                </c:pt>
                <c:pt idx="91">
                  <c:v>1</c:v>
                </c:pt>
                <c:pt idx="92">
                  <c:v>1</c:v>
                </c:pt>
                <c:pt idx="93">
                  <c:v>1</c:v>
                </c:pt>
                <c:pt idx="94">
                  <c:v>1</c:v>
                </c:pt>
                <c:pt idx="95">
                  <c:v>1</c:v>
                </c:pt>
                <c:pt idx="96">
                  <c:v>1</c:v>
                </c:pt>
                <c:pt idx="97">
                  <c:v>1</c:v>
                </c:pt>
                <c:pt idx="98">
                  <c:v>1</c:v>
                </c:pt>
                <c:pt idx="99">
                  <c:v>1</c:v>
                </c:pt>
                <c:pt idx="100">
                  <c:v>1</c:v>
                </c:pt>
                <c:pt idx="101">
                  <c:v>1</c:v>
                </c:pt>
                <c:pt idx="102">
                  <c:v>1</c:v>
                </c:pt>
                <c:pt idx="103">
                  <c:v>1</c:v>
                </c:pt>
                <c:pt idx="104">
                  <c:v>1</c:v>
                </c:pt>
                <c:pt idx="105">
                  <c:v>1</c:v>
                </c:pt>
                <c:pt idx="106">
                  <c:v>1</c:v>
                </c:pt>
                <c:pt idx="107">
                  <c:v>1</c:v>
                </c:pt>
                <c:pt idx="108">
                  <c:v>1</c:v>
                </c:pt>
                <c:pt idx="109">
                  <c:v>1</c:v>
                </c:pt>
                <c:pt idx="110">
                  <c:v>1</c:v>
                </c:pt>
                <c:pt idx="111">
                  <c:v>1</c:v>
                </c:pt>
                <c:pt idx="112">
                  <c:v>1</c:v>
                </c:pt>
                <c:pt idx="113">
                  <c:v>1</c:v>
                </c:pt>
                <c:pt idx="114">
                  <c:v>1</c:v>
                </c:pt>
                <c:pt idx="115">
                  <c:v>1</c:v>
                </c:pt>
                <c:pt idx="116">
                  <c:v>1</c:v>
                </c:pt>
                <c:pt idx="117">
                  <c:v>1</c:v>
                </c:pt>
                <c:pt idx="118">
                  <c:v>1</c:v>
                </c:pt>
                <c:pt idx="119">
                  <c:v>1</c:v>
                </c:pt>
                <c:pt idx="120">
                  <c:v>1</c:v>
                </c:pt>
              </c:numCache>
            </c:numRef>
          </c:yVal>
        </c:ser>
        <c:ser>
          <c:idx val="1"/>
          <c:order val="1"/>
          <c:tx>
            <c:v>First 5 s</c:v>
          </c:tx>
          <c:spPr>
            <a:ln xmlns:a="http://schemas.openxmlformats.org/drawingml/2006/main" w="28575">
              <a:solidFill>
                <a:srgbClr val="999999"/>
              </a:solidFill>
              <a:prstDash val="dash"/>
            </a:ln>
          </c:spPr>
          <c:marker>
            <c:symbol val="none"/>
          </c:marker>
          <c:xVal>
            <c:numRef>
              <c:f>'Chart Data'!$C$2:$C$122</c:f>
              <c:numCache>
                <c:formatCode>General</c:formatCode>
                <c:ptCount val="121"/>
                <c:pt idx="0">
                  <c:v>0</c:v>
                </c:pt>
                <c:pt idx="1">
                  <c:v>0.008695652174</c:v>
                </c:pt>
                <c:pt idx="2">
                  <c:v>0.008695652174</c:v>
                </c:pt>
                <c:pt idx="3">
                  <c:v>0.008695652174</c:v>
                </c:pt>
                <c:pt idx="4">
                  <c:v>0.017391304348</c:v>
                </c:pt>
                <c:pt idx="5">
                  <c:v>0.017391304348</c:v>
                </c:pt>
                <c:pt idx="6">
                  <c:v>0.026086956522</c:v>
                </c:pt>
                <c:pt idx="7">
                  <c:v>0.034782608696</c:v>
                </c:pt>
                <c:pt idx="8">
                  <c:v>0.04347826087</c:v>
                </c:pt>
                <c:pt idx="9">
                  <c:v>0.04347826087</c:v>
                </c:pt>
                <c:pt idx="10">
                  <c:v>0.052173913043</c:v>
                </c:pt>
                <c:pt idx="11">
                  <c:v>0.060869565217</c:v>
                </c:pt>
                <c:pt idx="12">
                  <c:v>0.069565217391</c:v>
                </c:pt>
                <c:pt idx="13">
                  <c:v>0.078260869565</c:v>
                </c:pt>
                <c:pt idx="14">
                  <c:v>0.086956521739</c:v>
                </c:pt>
                <c:pt idx="15">
                  <c:v>0.095652173913</c:v>
                </c:pt>
                <c:pt idx="16">
                  <c:v>0.104347826087</c:v>
                </c:pt>
                <c:pt idx="17">
                  <c:v>0.113043478261</c:v>
                </c:pt>
                <c:pt idx="18">
                  <c:v>0.121739130435</c:v>
                </c:pt>
                <c:pt idx="19">
                  <c:v>0.130434782609</c:v>
                </c:pt>
                <c:pt idx="20">
                  <c:v>0.139130434783</c:v>
                </c:pt>
                <c:pt idx="21">
                  <c:v>0.147826086957</c:v>
                </c:pt>
                <c:pt idx="22">
                  <c:v>0.15652173913</c:v>
                </c:pt>
                <c:pt idx="23">
                  <c:v>0.165217391304</c:v>
                </c:pt>
                <c:pt idx="24">
                  <c:v>0.173913043478</c:v>
                </c:pt>
                <c:pt idx="25">
                  <c:v>0.182608695652</c:v>
                </c:pt>
                <c:pt idx="26">
                  <c:v>0.191304347826</c:v>
                </c:pt>
                <c:pt idx="27">
                  <c:v>0.2</c:v>
                </c:pt>
                <c:pt idx="28">
                  <c:v>0.208695652174</c:v>
                </c:pt>
                <c:pt idx="29">
                  <c:v>0.217391304348</c:v>
                </c:pt>
                <c:pt idx="30">
                  <c:v>0.226086956522</c:v>
                </c:pt>
                <c:pt idx="31">
                  <c:v>0.234782608696</c:v>
                </c:pt>
                <c:pt idx="32">
                  <c:v>0.24347826087</c:v>
                </c:pt>
                <c:pt idx="33">
                  <c:v>0.252173913043</c:v>
                </c:pt>
                <c:pt idx="34">
                  <c:v>0.260869565217</c:v>
                </c:pt>
                <c:pt idx="35">
                  <c:v>0.269565217391</c:v>
                </c:pt>
                <c:pt idx="36">
                  <c:v>0.278260869565</c:v>
                </c:pt>
                <c:pt idx="37">
                  <c:v>0.286956521739</c:v>
                </c:pt>
                <c:pt idx="38">
                  <c:v>0.295652173913</c:v>
                </c:pt>
                <c:pt idx="39">
                  <c:v>0.304347826087</c:v>
                </c:pt>
                <c:pt idx="40">
                  <c:v>0.313043478261</c:v>
                </c:pt>
                <c:pt idx="41">
                  <c:v>0.321739130435</c:v>
                </c:pt>
                <c:pt idx="42">
                  <c:v>0.321739130435</c:v>
                </c:pt>
                <c:pt idx="43">
                  <c:v>0.330434782609</c:v>
                </c:pt>
                <c:pt idx="44">
                  <c:v>0.339130434783</c:v>
                </c:pt>
                <c:pt idx="45">
                  <c:v>0.347826086957</c:v>
                </c:pt>
                <c:pt idx="46">
                  <c:v>0.35652173913</c:v>
                </c:pt>
                <c:pt idx="47">
                  <c:v>0.365217391304</c:v>
                </c:pt>
                <c:pt idx="48">
                  <c:v>0.373913043478</c:v>
                </c:pt>
                <c:pt idx="49">
                  <c:v>0.382608695652</c:v>
                </c:pt>
                <c:pt idx="50">
                  <c:v>0.391304347826</c:v>
                </c:pt>
                <c:pt idx="51">
                  <c:v>0.4</c:v>
                </c:pt>
                <c:pt idx="52">
                  <c:v>0.408695652174</c:v>
                </c:pt>
                <c:pt idx="53">
                  <c:v>0.417391304348</c:v>
                </c:pt>
                <c:pt idx="54">
                  <c:v>0.426086956522</c:v>
                </c:pt>
                <c:pt idx="55">
                  <c:v>0.434782608696</c:v>
                </c:pt>
                <c:pt idx="56">
                  <c:v>0.44347826087</c:v>
                </c:pt>
                <c:pt idx="57">
                  <c:v>0.452173913043</c:v>
                </c:pt>
                <c:pt idx="58">
                  <c:v>0.460869565217</c:v>
                </c:pt>
                <c:pt idx="59">
                  <c:v>0.469565217391</c:v>
                </c:pt>
                <c:pt idx="60">
                  <c:v>0.478260869565</c:v>
                </c:pt>
                <c:pt idx="61">
                  <c:v>0.486956521739</c:v>
                </c:pt>
                <c:pt idx="62">
                  <c:v>0.495652173913</c:v>
                </c:pt>
                <c:pt idx="63">
                  <c:v>0.504347826087</c:v>
                </c:pt>
                <c:pt idx="64">
                  <c:v>0.513043478261</c:v>
                </c:pt>
                <c:pt idx="65">
                  <c:v>0.521739130435</c:v>
                </c:pt>
                <c:pt idx="66">
                  <c:v>0.530434782609</c:v>
                </c:pt>
                <c:pt idx="67">
                  <c:v>0.539130434783</c:v>
                </c:pt>
                <c:pt idx="68">
                  <c:v>0.547826086957</c:v>
                </c:pt>
                <c:pt idx="69">
                  <c:v>0.55652173913</c:v>
                </c:pt>
                <c:pt idx="70">
                  <c:v>0.565217391304</c:v>
                </c:pt>
                <c:pt idx="71">
                  <c:v>0.573913043478</c:v>
                </c:pt>
                <c:pt idx="72">
                  <c:v>0.582608695652</c:v>
                </c:pt>
                <c:pt idx="73">
                  <c:v>0.591304347826</c:v>
                </c:pt>
                <c:pt idx="74">
                  <c:v>0.6</c:v>
                </c:pt>
                <c:pt idx="75">
                  <c:v>0.608695652174</c:v>
                </c:pt>
                <c:pt idx="76">
                  <c:v>0.617391304348</c:v>
                </c:pt>
                <c:pt idx="77">
                  <c:v>0.626086956522</c:v>
                </c:pt>
                <c:pt idx="78">
                  <c:v>0.634782608696</c:v>
                </c:pt>
                <c:pt idx="79">
                  <c:v>0.64347826087</c:v>
                </c:pt>
                <c:pt idx="80">
                  <c:v>0.652173913043</c:v>
                </c:pt>
                <c:pt idx="81">
                  <c:v>0.660869565217</c:v>
                </c:pt>
                <c:pt idx="82">
                  <c:v>0.669565217391</c:v>
                </c:pt>
                <c:pt idx="83">
                  <c:v>0.678260869565</c:v>
                </c:pt>
                <c:pt idx="84">
                  <c:v>0.686956521739</c:v>
                </c:pt>
                <c:pt idx="85">
                  <c:v>0.695652173913</c:v>
                </c:pt>
                <c:pt idx="86">
                  <c:v>0.704347826087</c:v>
                </c:pt>
                <c:pt idx="87">
                  <c:v>0.713043478261</c:v>
                </c:pt>
                <c:pt idx="88">
                  <c:v>0.721739130435</c:v>
                </c:pt>
                <c:pt idx="89">
                  <c:v>0.730434782609</c:v>
                </c:pt>
                <c:pt idx="90">
                  <c:v>0.739130434783</c:v>
                </c:pt>
                <c:pt idx="91">
                  <c:v>0.747826086957</c:v>
                </c:pt>
                <c:pt idx="92">
                  <c:v>0.75652173913</c:v>
                </c:pt>
                <c:pt idx="93">
                  <c:v>0.765217391304</c:v>
                </c:pt>
                <c:pt idx="94">
                  <c:v>0.773913043478</c:v>
                </c:pt>
                <c:pt idx="95">
                  <c:v>0.782608695652</c:v>
                </c:pt>
                <c:pt idx="96">
                  <c:v>0.791304347826</c:v>
                </c:pt>
                <c:pt idx="97">
                  <c:v>0.8</c:v>
                </c:pt>
                <c:pt idx="98">
                  <c:v>0.808695652174</c:v>
                </c:pt>
                <c:pt idx="99">
                  <c:v>0.817391304348</c:v>
                </c:pt>
                <c:pt idx="100">
                  <c:v>0.826086956522</c:v>
                </c:pt>
                <c:pt idx="101">
                  <c:v>0.834782608696</c:v>
                </c:pt>
                <c:pt idx="102">
                  <c:v>0.84347826087</c:v>
                </c:pt>
                <c:pt idx="103">
                  <c:v>0.852173913043</c:v>
                </c:pt>
                <c:pt idx="104">
                  <c:v>0.860869565217</c:v>
                </c:pt>
                <c:pt idx="105">
                  <c:v>0.869565217391</c:v>
                </c:pt>
                <c:pt idx="106">
                  <c:v>0.878260869565</c:v>
                </c:pt>
                <c:pt idx="107">
                  <c:v>0.886956521739</c:v>
                </c:pt>
                <c:pt idx="108">
                  <c:v>0.895652173913</c:v>
                </c:pt>
                <c:pt idx="109">
                  <c:v>0.904347826087</c:v>
                </c:pt>
                <c:pt idx="110">
                  <c:v>0.913043478261</c:v>
                </c:pt>
                <c:pt idx="111">
                  <c:v>0.921739130435</c:v>
                </c:pt>
                <c:pt idx="112">
                  <c:v>0.930434782609</c:v>
                </c:pt>
                <c:pt idx="113">
                  <c:v>0.939130434783</c:v>
                </c:pt>
                <c:pt idx="114">
                  <c:v>0.947826086957</c:v>
                </c:pt>
                <c:pt idx="115">
                  <c:v>0.95652173913</c:v>
                </c:pt>
                <c:pt idx="116">
                  <c:v>0.965217391304</c:v>
                </c:pt>
                <c:pt idx="117">
                  <c:v>0.973913043478</c:v>
                </c:pt>
                <c:pt idx="118">
                  <c:v>0.982608695652</c:v>
                </c:pt>
                <c:pt idx="119">
                  <c:v>0.991304347826</c:v>
                </c:pt>
                <c:pt idx="120">
                  <c:v>1</c:v>
                </c:pt>
              </c:numCache>
            </c:numRef>
          </c:xVal>
          <c:yVal>
            <c:numRef>
              <c:f>'Chart Data'!$D$2:$D$122</c:f>
              <c:numCache>
                <c:formatCode>0.0</c:formatCode>
                <c:ptCount val="121"/>
                <c:pt idx="0">
                  <c:v>0</c:v>
                </c:pt>
                <c:pt idx="1">
                  <c:v>0</c:v>
                </c:pt>
                <c:pt idx="2">
                  <c:v>0.2</c:v>
                </c:pt>
                <c:pt idx="3">
                  <c:v>0.4</c:v>
                </c:pt>
                <c:pt idx="4">
                  <c:v>0.4</c:v>
                </c:pt>
                <c:pt idx="5">
                  <c:v>0.6</c:v>
                </c:pt>
                <c:pt idx="6">
                  <c:v>0.6</c:v>
                </c:pt>
                <c:pt idx="7">
                  <c:v>0.6</c:v>
                </c:pt>
                <c:pt idx="8">
                  <c:v>0.6</c:v>
                </c:pt>
                <c:pt idx="9">
                  <c:v>0.8</c:v>
                </c:pt>
                <c:pt idx="10">
                  <c:v>0.8</c:v>
                </c:pt>
                <c:pt idx="11">
                  <c:v>0.8</c:v>
                </c:pt>
                <c:pt idx="12">
                  <c:v>0.8</c:v>
                </c:pt>
                <c:pt idx="13">
                  <c:v>0.8</c:v>
                </c:pt>
                <c:pt idx="14">
                  <c:v>0.8</c:v>
                </c:pt>
                <c:pt idx="15">
                  <c:v>0.8</c:v>
                </c:pt>
                <c:pt idx="16">
                  <c:v>0.8</c:v>
                </c:pt>
                <c:pt idx="17">
                  <c:v>0.8</c:v>
                </c:pt>
                <c:pt idx="18">
                  <c:v>0.8</c:v>
                </c:pt>
                <c:pt idx="19">
                  <c:v>0.8</c:v>
                </c:pt>
                <c:pt idx="20">
                  <c:v>0.8</c:v>
                </c:pt>
                <c:pt idx="21">
                  <c:v>0.8</c:v>
                </c:pt>
                <c:pt idx="22">
                  <c:v>0.8</c:v>
                </c:pt>
                <c:pt idx="23">
                  <c:v>0.8</c:v>
                </c:pt>
                <c:pt idx="24">
                  <c:v>0.8</c:v>
                </c:pt>
                <c:pt idx="25">
                  <c:v>0.8</c:v>
                </c:pt>
                <c:pt idx="26">
                  <c:v>0.8</c:v>
                </c:pt>
                <c:pt idx="27">
                  <c:v>0.8</c:v>
                </c:pt>
                <c:pt idx="28">
                  <c:v>0.8</c:v>
                </c:pt>
                <c:pt idx="29">
                  <c:v>0.8</c:v>
                </c:pt>
                <c:pt idx="30">
                  <c:v>0.8</c:v>
                </c:pt>
                <c:pt idx="31">
                  <c:v>0.8</c:v>
                </c:pt>
                <c:pt idx="32">
                  <c:v>0.8</c:v>
                </c:pt>
                <c:pt idx="33">
                  <c:v>0.8</c:v>
                </c:pt>
                <c:pt idx="34">
                  <c:v>0.8</c:v>
                </c:pt>
                <c:pt idx="35">
                  <c:v>0.8</c:v>
                </c:pt>
                <c:pt idx="36">
                  <c:v>0.8</c:v>
                </c:pt>
                <c:pt idx="37">
                  <c:v>0.8</c:v>
                </c:pt>
                <c:pt idx="38">
                  <c:v>0.8</c:v>
                </c:pt>
                <c:pt idx="39">
                  <c:v>0.8</c:v>
                </c:pt>
                <c:pt idx="40">
                  <c:v>0.8</c:v>
                </c:pt>
                <c:pt idx="41">
                  <c:v>0.8</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pt idx="80">
                  <c:v>1</c:v>
                </c:pt>
                <c:pt idx="81">
                  <c:v>1</c:v>
                </c:pt>
                <c:pt idx="82">
                  <c:v>1</c:v>
                </c:pt>
                <c:pt idx="83">
                  <c:v>1</c:v>
                </c:pt>
                <c:pt idx="84">
                  <c:v>1</c:v>
                </c:pt>
                <c:pt idx="85">
                  <c:v>1</c:v>
                </c:pt>
                <c:pt idx="86">
                  <c:v>1</c:v>
                </c:pt>
                <c:pt idx="87">
                  <c:v>1</c:v>
                </c:pt>
                <c:pt idx="88">
                  <c:v>1</c:v>
                </c:pt>
                <c:pt idx="89">
                  <c:v>1</c:v>
                </c:pt>
                <c:pt idx="90">
                  <c:v>1</c:v>
                </c:pt>
                <c:pt idx="91">
                  <c:v>1</c:v>
                </c:pt>
                <c:pt idx="92">
                  <c:v>1</c:v>
                </c:pt>
                <c:pt idx="93">
                  <c:v>1</c:v>
                </c:pt>
                <c:pt idx="94">
                  <c:v>1</c:v>
                </c:pt>
                <c:pt idx="95">
                  <c:v>1</c:v>
                </c:pt>
                <c:pt idx="96">
                  <c:v>1</c:v>
                </c:pt>
                <c:pt idx="97">
                  <c:v>1</c:v>
                </c:pt>
                <c:pt idx="98">
                  <c:v>1</c:v>
                </c:pt>
                <c:pt idx="99">
                  <c:v>1</c:v>
                </c:pt>
                <c:pt idx="100">
                  <c:v>1</c:v>
                </c:pt>
                <c:pt idx="101">
                  <c:v>1</c:v>
                </c:pt>
                <c:pt idx="102">
                  <c:v>1</c:v>
                </c:pt>
                <c:pt idx="103">
                  <c:v>1</c:v>
                </c:pt>
                <c:pt idx="104">
                  <c:v>1</c:v>
                </c:pt>
                <c:pt idx="105">
                  <c:v>1</c:v>
                </c:pt>
                <c:pt idx="106">
                  <c:v>1</c:v>
                </c:pt>
                <c:pt idx="107">
                  <c:v>1</c:v>
                </c:pt>
                <c:pt idx="108">
                  <c:v>1</c:v>
                </c:pt>
                <c:pt idx="109">
                  <c:v>1</c:v>
                </c:pt>
                <c:pt idx="110">
                  <c:v>1</c:v>
                </c:pt>
                <c:pt idx="111">
                  <c:v>1</c:v>
                </c:pt>
                <c:pt idx="112">
                  <c:v>1</c:v>
                </c:pt>
                <c:pt idx="113">
                  <c:v>1</c:v>
                </c:pt>
                <c:pt idx="114">
                  <c:v>1</c:v>
                </c:pt>
                <c:pt idx="115">
                  <c:v>1</c:v>
                </c:pt>
                <c:pt idx="116">
                  <c:v>1</c:v>
                </c:pt>
                <c:pt idx="117">
                  <c:v>1</c:v>
                </c:pt>
                <c:pt idx="118">
                  <c:v>1</c:v>
                </c:pt>
                <c:pt idx="119">
                  <c:v>1</c:v>
                </c:pt>
                <c:pt idx="120">
                  <c:v>1</c:v>
                </c:pt>
              </c:numCache>
            </c:numRef>
          </c:yVal>
        </c:ser>
        <c:ser>
          <c:idx val="2"/>
          <c:order val="2"/>
          <c:tx>
            <c:v>Mean of six</c:v>
          </c:tx>
          <c:spPr>
            <a:ln xmlns:a="http://schemas.openxmlformats.org/drawingml/2006/main" w="28575">
              <a:solidFill>
                <a:srgbClr val="555555"/>
              </a:solidFill>
              <a:prstDash val="dot"/>
            </a:ln>
          </c:spPr>
          <c:marker>
            <c:symbol val="none"/>
          </c:marker>
          <c:xVal>
            <c:numRef>
              <c:f>'Chart Data'!$E$2:$E$122</c:f>
              <c:numCache>
                <c:formatCode>General</c:formatCode>
                <c:ptCount val="121"/>
                <c:pt idx="0">
                  <c:v>0</c:v>
                </c:pt>
                <c:pt idx="1">
                  <c:v>0</c:v>
                </c:pt>
                <c:pt idx="2">
                  <c:v>0</c:v>
                </c:pt>
                <c:pt idx="3">
                  <c:v>0</c:v>
                </c:pt>
                <c:pt idx="4">
                  <c:v>0.008695652174</c:v>
                </c:pt>
                <c:pt idx="5">
                  <c:v>0.017391304348</c:v>
                </c:pt>
                <c:pt idx="6">
                  <c:v>0.017391304348</c:v>
                </c:pt>
                <c:pt idx="7">
                  <c:v>0.026086956522</c:v>
                </c:pt>
                <c:pt idx="8">
                  <c:v>0.034782608696</c:v>
                </c:pt>
                <c:pt idx="9">
                  <c:v>0.04347826087</c:v>
                </c:pt>
                <c:pt idx="10">
                  <c:v>0.052173913043</c:v>
                </c:pt>
                <c:pt idx="11">
                  <c:v>0.060869565217</c:v>
                </c:pt>
                <c:pt idx="12">
                  <c:v>0.069565217391</c:v>
                </c:pt>
                <c:pt idx="13">
                  <c:v>0.078260869565</c:v>
                </c:pt>
                <c:pt idx="14">
                  <c:v>0.086956521739</c:v>
                </c:pt>
                <c:pt idx="15">
                  <c:v>0.095652173913</c:v>
                </c:pt>
                <c:pt idx="16">
                  <c:v>0.104347826087</c:v>
                </c:pt>
                <c:pt idx="17">
                  <c:v>0.113043478261</c:v>
                </c:pt>
                <c:pt idx="18">
                  <c:v>0.113043478261</c:v>
                </c:pt>
                <c:pt idx="19">
                  <c:v>0.121739130435</c:v>
                </c:pt>
                <c:pt idx="20">
                  <c:v>0.130434782609</c:v>
                </c:pt>
                <c:pt idx="21">
                  <c:v>0.139130434783</c:v>
                </c:pt>
                <c:pt idx="22">
                  <c:v>0.147826086957</c:v>
                </c:pt>
                <c:pt idx="23">
                  <c:v>0.15652173913</c:v>
                </c:pt>
                <c:pt idx="24">
                  <c:v>0.165217391304</c:v>
                </c:pt>
                <c:pt idx="25">
                  <c:v>0.173913043478</c:v>
                </c:pt>
                <c:pt idx="26">
                  <c:v>0.182608695652</c:v>
                </c:pt>
                <c:pt idx="27">
                  <c:v>0.191304347826</c:v>
                </c:pt>
                <c:pt idx="28">
                  <c:v>0.2</c:v>
                </c:pt>
                <c:pt idx="29">
                  <c:v>0.208695652174</c:v>
                </c:pt>
                <c:pt idx="30">
                  <c:v>0.217391304348</c:v>
                </c:pt>
                <c:pt idx="31">
                  <c:v>0.226086956522</c:v>
                </c:pt>
                <c:pt idx="32">
                  <c:v>0.234782608696</c:v>
                </c:pt>
                <c:pt idx="33">
                  <c:v>0.24347826087</c:v>
                </c:pt>
                <c:pt idx="34">
                  <c:v>0.252173913043</c:v>
                </c:pt>
                <c:pt idx="35">
                  <c:v>0.260869565217</c:v>
                </c:pt>
                <c:pt idx="36">
                  <c:v>0.269565217391</c:v>
                </c:pt>
                <c:pt idx="37">
                  <c:v>0.278260869565</c:v>
                </c:pt>
                <c:pt idx="38">
                  <c:v>0.286956521739</c:v>
                </c:pt>
                <c:pt idx="39">
                  <c:v>0.295652173913</c:v>
                </c:pt>
                <c:pt idx="40">
                  <c:v>0.304347826087</c:v>
                </c:pt>
                <c:pt idx="41">
                  <c:v>0.313043478261</c:v>
                </c:pt>
                <c:pt idx="42">
                  <c:v>0.321739130435</c:v>
                </c:pt>
                <c:pt idx="43">
                  <c:v>0.330434782609</c:v>
                </c:pt>
                <c:pt idx="44">
                  <c:v>0.339130434783</c:v>
                </c:pt>
                <c:pt idx="45">
                  <c:v>0.347826086957</c:v>
                </c:pt>
                <c:pt idx="46">
                  <c:v>0.35652173913</c:v>
                </c:pt>
                <c:pt idx="47">
                  <c:v>0.365217391304</c:v>
                </c:pt>
                <c:pt idx="48">
                  <c:v>0.373913043478</c:v>
                </c:pt>
                <c:pt idx="49">
                  <c:v>0.382608695652</c:v>
                </c:pt>
                <c:pt idx="50">
                  <c:v>0.391304347826</c:v>
                </c:pt>
                <c:pt idx="51">
                  <c:v>0.4</c:v>
                </c:pt>
                <c:pt idx="52">
                  <c:v>0.408695652174</c:v>
                </c:pt>
                <c:pt idx="53">
                  <c:v>0.417391304348</c:v>
                </c:pt>
                <c:pt idx="54">
                  <c:v>0.426086956522</c:v>
                </c:pt>
                <c:pt idx="55">
                  <c:v>0.434782608696</c:v>
                </c:pt>
                <c:pt idx="56">
                  <c:v>0.44347826087</c:v>
                </c:pt>
                <c:pt idx="57">
                  <c:v>0.452173913043</c:v>
                </c:pt>
                <c:pt idx="58">
                  <c:v>0.460869565217</c:v>
                </c:pt>
                <c:pt idx="59">
                  <c:v>0.469565217391</c:v>
                </c:pt>
                <c:pt idx="60">
                  <c:v>0.478260869565</c:v>
                </c:pt>
                <c:pt idx="61">
                  <c:v>0.486956521739</c:v>
                </c:pt>
                <c:pt idx="62">
                  <c:v>0.495652173913</c:v>
                </c:pt>
                <c:pt idx="63">
                  <c:v>0.504347826087</c:v>
                </c:pt>
                <c:pt idx="64">
                  <c:v>0.513043478261</c:v>
                </c:pt>
                <c:pt idx="65">
                  <c:v>0.521739130435</c:v>
                </c:pt>
                <c:pt idx="66">
                  <c:v>0.530434782609</c:v>
                </c:pt>
                <c:pt idx="67">
                  <c:v>0.539130434783</c:v>
                </c:pt>
                <c:pt idx="68">
                  <c:v>0.547826086957</c:v>
                </c:pt>
                <c:pt idx="69">
                  <c:v>0.55652173913</c:v>
                </c:pt>
                <c:pt idx="70">
                  <c:v>0.565217391304</c:v>
                </c:pt>
                <c:pt idx="71">
                  <c:v>0.573913043478</c:v>
                </c:pt>
                <c:pt idx="72">
                  <c:v>0.582608695652</c:v>
                </c:pt>
                <c:pt idx="73">
                  <c:v>0.591304347826</c:v>
                </c:pt>
                <c:pt idx="74">
                  <c:v>0.6</c:v>
                </c:pt>
                <c:pt idx="75">
                  <c:v>0.608695652174</c:v>
                </c:pt>
                <c:pt idx="76">
                  <c:v>0.617391304348</c:v>
                </c:pt>
                <c:pt idx="77">
                  <c:v>0.626086956522</c:v>
                </c:pt>
                <c:pt idx="78">
                  <c:v>0.634782608696</c:v>
                </c:pt>
                <c:pt idx="79">
                  <c:v>0.64347826087</c:v>
                </c:pt>
                <c:pt idx="80">
                  <c:v>0.652173913043</c:v>
                </c:pt>
                <c:pt idx="81">
                  <c:v>0.660869565217</c:v>
                </c:pt>
                <c:pt idx="82">
                  <c:v>0.669565217391</c:v>
                </c:pt>
                <c:pt idx="83">
                  <c:v>0.678260869565</c:v>
                </c:pt>
                <c:pt idx="84">
                  <c:v>0.686956521739</c:v>
                </c:pt>
                <c:pt idx="85">
                  <c:v>0.695652173913</c:v>
                </c:pt>
                <c:pt idx="86">
                  <c:v>0.704347826087</c:v>
                </c:pt>
                <c:pt idx="87">
                  <c:v>0.713043478261</c:v>
                </c:pt>
                <c:pt idx="88">
                  <c:v>0.721739130435</c:v>
                </c:pt>
                <c:pt idx="89">
                  <c:v>0.730434782609</c:v>
                </c:pt>
                <c:pt idx="90">
                  <c:v>0.739130434783</c:v>
                </c:pt>
                <c:pt idx="91">
                  <c:v>0.747826086957</c:v>
                </c:pt>
                <c:pt idx="92">
                  <c:v>0.75652173913</c:v>
                </c:pt>
                <c:pt idx="93">
                  <c:v>0.765217391304</c:v>
                </c:pt>
                <c:pt idx="94">
                  <c:v>0.773913043478</c:v>
                </c:pt>
                <c:pt idx="95">
                  <c:v>0.782608695652</c:v>
                </c:pt>
                <c:pt idx="96">
                  <c:v>0.791304347826</c:v>
                </c:pt>
                <c:pt idx="97">
                  <c:v>0.8</c:v>
                </c:pt>
                <c:pt idx="98">
                  <c:v>0.808695652174</c:v>
                </c:pt>
                <c:pt idx="99">
                  <c:v>0.817391304348</c:v>
                </c:pt>
                <c:pt idx="100">
                  <c:v>0.826086956522</c:v>
                </c:pt>
                <c:pt idx="101">
                  <c:v>0.834782608696</c:v>
                </c:pt>
                <c:pt idx="102">
                  <c:v>0.84347826087</c:v>
                </c:pt>
                <c:pt idx="103">
                  <c:v>0.852173913043</c:v>
                </c:pt>
                <c:pt idx="104">
                  <c:v>0.860869565217</c:v>
                </c:pt>
                <c:pt idx="105">
                  <c:v>0.869565217391</c:v>
                </c:pt>
                <c:pt idx="106">
                  <c:v>0.878260869565</c:v>
                </c:pt>
                <c:pt idx="107">
                  <c:v>0.886956521739</c:v>
                </c:pt>
                <c:pt idx="108">
                  <c:v>0.895652173913</c:v>
                </c:pt>
                <c:pt idx="109">
                  <c:v>0.904347826087</c:v>
                </c:pt>
                <c:pt idx="110">
                  <c:v>0.913043478261</c:v>
                </c:pt>
                <c:pt idx="111">
                  <c:v>0.921739130435</c:v>
                </c:pt>
                <c:pt idx="112">
                  <c:v>0.930434782609</c:v>
                </c:pt>
                <c:pt idx="113">
                  <c:v>0.939130434783</c:v>
                </c:pt>
                <c:pt idx="114">
                  <c:v>0.947826086957</c:v>
                </c:pt>
                <c:pt idx="115">
                  <c:v>0.95652173913</c:v>
                </c:pt>
                <c:pt idx="116">
                  <c:v>0.965217391304</c:v>
                </c:pt>
                <c:pt idx="117">
                  <c:v>0.973913043478</c:v>
                </c:pt>
                <c:pt idx="118">
                  <c:v>0.982608695652</c:v>
                </c:pt>
                <c:pt idx="119">
                  <c:v>0.991304347826</c:v>
                </c:pt>
                <c:pt idx="120">
                  <c:v>1</c:v>
                </c:pt>
              </c:numCache>
            </c:numRef>
          </c:xVal>
          <c:yVal>
            <c:numRef>
              <c:f>'Chart Data'!$F$2:$F$122</c:f>
              <c:numCache>
                <c:formatCode>0.0</c:formatCode>
                <c:ptCount val="121"/>
                <c:pt idx="0">
                  <c:v>0</c:v>
                </c:pt>
                <c:pt idx="1">
                  <c:v>0.2</c:v>
                </c:pt>
                <c:pt idx="2">
                  <c:v>0.4</c:v>
                </c:pt>
                <c:pt idx="3">
                  <c:v>0.6</c:v>
                </c:pt>
                <c:pt idx="4">
                  <c:v>0.6</c:v>
                </c:pt>
                <c:pt idx="5">
                  <c:v>0.6</c:v>
                </c:pt>
                <c:pt idx="6">
                  <c:v>0.8</c:v>
                </c:pt>
                <c:pt idx="7">
                  <c:v>0.8</c:v>
                </c:pt>
                <c:pt idx="8">
                  <c:v>0.8</c:v>
                </c:pt>
                <c:pt idx="9">
                  <c:v>0.8</c:v>
                </c:pt>
                <c:pt idx="10">
                  <c:v>0.8</c:v>
                </c:pt>
                <c:pt idx="11">
                  <c:v>0.8</c:v>
                </c:pt>
                <c:pt idx="12">
                  <c:v>0.8</c:v>
                </c:pt>
                <c:pt idx="13">
                  <c:v>0.8</c:v>
                </c:pt>
                <c:pt idx="14">
                  <c:v>0.8</c:v>
                </c:pt>
                <c:pt idx="15">
                  <c:v>0.8</c:v>
                </c:pt>
                <c:pt idx="16">
                  <c:v>0.8</c:v>
                </c:pt>
                <c:pt idx="17">
                  <c:v>0.8</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pt idx="80">
                  <c:v>1</c:v>
                </c:pt>
                <c:pt idx="81">
                  <c:v>1</c:v>
                </c:pt>
                <c:pt idx="82">
                  <c:v>1</c:v>
                </c:pt>
                <c:pt idx="83">
                  <c:v>1</c:v>
                </c:pt>
                <c:pt idx="84">
                  <c:v>1</c:v>
                </c:pt>
                <c:pt idx="85">
                  <c:v>1</c:v>
                </c:pt>
                <c:pt idx="86">
                  <c:v>1</c:v>
                </c:pt>
                <c:pt idx="87">
                  <c:v>1</c:v>
                </c:pt>
                <c:pt idx="88">
                  <c:v>1</c:v>
                </c:pt>
                <c:pt idx="89">
                  <c:v>1</c:v>
                </c:pt>
                <c:pt idx="90">
                  <c:v>1</c:v>
                </c:pt>
                <c:pt idx="91">
                  <c:v>1</c:v>
                </c:pt>
                <c:pt idx="92">
                  <c:v>1</c:v>
                </c:pt>
                <c:pt idx="93">
                  <c:v>1</c:v>
                </c:pt>
                <c:pt idx="94">
                  <c:v>1</c:v>
                </c:pt>
                <c:pt idx="95">
                  <c:v>1</c:v>
                </c:pt>
                <c:pt idx="96">
                  <c:v>1</c:v>
                </c:pt>
                <c:pt idx="97">
                  <c:v>1</c:v>
                </c:pt>
                <c:pt idx="98">
                  <c:v>1</c:v>
                </c:pt>
                <c:pt idx="99">
                  <c:v>1</c:v>
                </c:pt>
                <c:pt idx="100">
                  <c:v>1</c:v>
                </c:pt>
                <c:pt idx="101">
                  <c:v>1</c:v>
                </c:pt>
                <c:pt idx="102">
                  <c:v>1</c:v>
                </c:pt>
                <c:pt idx="103">
                  <c:v>1</c:v>
                </c:pt>
                <c:pt idx="104">
                  <c:v>1</c:v>
                </c:pt>
                <c:pt idx="105">
                  <c:v>1</c:v>
                </c:pt>
                <c:pt idx="106">
                  <c:v>1</c:v>
                </c:pt>
                <c:pt idx="107">
                  <c:v>1</c:v>
                </c:pt>
                <c:pt idx="108">
                  <c:v>1</c:v>
                </c:pt>
                <c:pt idx="109">
                  <c:v>1</c:v>
                </c:pt>
                <c:pt idx="110">
                  <c:v>1</c:v>
                </c:pt>
                <c:pt idx="111">
                  <c:v>1</c:v>
                </c:pt>
                <c:pt idx="112">
                  <c:v>1</c:v>
                </c:pt>
                <c:pt idx="113">
                  <c:v>1</c:v>
                </c:pt>
                <c:pt idx="114">
                  <c:v>1</c:v>
                </c:pt>
                <c:pt idx="115">
                  <c:v>1</c:v>
                </c:pt>
                <c:pt idx="116">
                  <c:v>1</c:v>
                </c:pt>
                <c:pt idx="117">
                  <c:v>1</c:v>
                </c:pt>
                <c:pt idx="118">
                  <c:v>1</c:v>
                </c:pt>
                <c:pt idx="119">
                  <c:v>1</c:v>
                </c:pt>
                <c:pt idx="120">
                  <c:v>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5715">
              <a:solidFill>
                <a:srgbClr val="D0D0D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Recall</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000000"/>
                </a:solidFill>
                <a:latin typeface="Arial"/>
                <a:ea typeface="Arial"/>
                <a:cs typeface="Arial"/>
              </a:defRPr>
            </a:pPr>
          </a:p>
        </c:txPr>
        <c:crossAx val="48650112"/>
        <c:majorUnit val="0.5"/>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False positive rate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000000"/>
                </a:solidFill>
                <a:latin typeface="Arial"/>
                <a:ea typeface="Arial"/>
                <a:cs typeface="Arial"/>
              </a:defRPr>
            </a:pPr>
          </a:p>
        </c:txPr>
        <c:crossAx val="48672768"/>
        <c:majorUnit val="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00000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7316D2E-0E2D-4137-92C4-072183F1B61E}"/>
              </a:ext>
            </a:extLst>
          </p:cNvPr>
          <p:cNvSpPr>
            <a:spLocks xmlns:a="http://schemas.openxmlformats.org/drawingml/2006/main" noGrp="1"/>
          </p:cNvSpPr>
          <p:nvPr/>
        </p:nvSpPr>
        <p:spPr>
          <a:xfrm xmlns:a="http://schemas.openxmlformats.org/drawingml/2006/main">
            <a:off x="685800" y="160020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500" b="1">
                <a:solidFill>
                  <a:srgbClr val="000000"/>
                </a:solidFill>
                <a:latin typeface="Arial"/>
                <a:ea typeface="Arial"/>
                <a:cs typeface="Arial"/>
              </a:defRPr>
            </a:pPr>
            <a:r>
              <a:rPr sz="4500" b="1">
                <a:solidFill>
                  <a:srgbClr val="000000"/>
                </a:solidFill>
                <a:latin typeface="Arial"/>
                <a:ea typeface="Arial"/>
                <a:cs typeface="Arial"/>
              </a:rPr>
              <a:t>CardioFusion</a:t>
            </a:r>
          </a:p>
        </p:txBody>
      </p:sp>
      <p:sp>
        <p:nvSpPr>
          <p:cNvPr id="2" name="">
            <a:extLst xmlns:a="http://schemas.openxmlformats.org/drawingml/2006/main">
              <a:ext uri="{FF2B5EF4-FFF2-40B4-BE49-F238E27FC236}">
                <a16:creationId xmlns:a16="http://schemas.microsoft.com/office/drawing/2014/main" id="{4157AB06-B11F-4A73-9DFC-CED46681FA95}"/>
              </a:ext>
            </a:extLst>
          </p:cNvPr>
          <p:cNvSpPr>
            <a:spLocks xmlns:a="http://schemas.openxmlformats.org/drawingml/2006/main" noGrp="1"/>
          </p:cNvSpPr>
          <p:nvPr/>
        </p:nvSpPr>
        <p:spPr>
          <a:xfrm xmlns:a="http://schemas.openxmlformats.org/drawingml/2006/main">
            <a:off x="685800" y="26098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0">
                <a:solidFill>
                  <a:srgbClr val="000000"/>
                </a:solidFill>
                <a:latin typeface="Arial"/>
                <a:ea typeface="Arial"/>
                <a:cs typeface="Arial"/>
              </a:defRPr>
            </a:pPr>
            <a:r>
              <a:rPr sz="2700" b="0">
                <a:solidFill>
                  <a:srgbClr val="000000"/>
                </a:solidFill>
                <a:latin typeface="Arial"/>
                <a:ea typeface="Arial"/>
                <a:cs typeface="Arial"/>
              </a:rPr>
              <a:t>ECG model progress</a:t>
            </a:r>
          </a:p>
        </p:txBody>
      </p:sp>
      <p:sp>
        <p:nvSpPr>
          <p:cNvPr id="3" name="">
            <a:extLst xmlns:a="http://schemas.openxmlformats.org/drawingml/2006/main">
              <a:ext uri="{FF2B5EF4-FFF2-40B4-BE49-F238E27FC236}">
                <a16:creationId xmlns:a16="http://schemas.microsoft.com/office/drawing/2014/main" id="{A77C6934-2842-4B44-9400-DA5C331A37D9}"/>
              </a:ext>
            </a:extLst>
          </p:cNvPr>
          <p:cNvSpPr>
            <a:spLocks xmlns:a="http://schemas.openxmlformats.org/drawingml/2006/main" noGrp="1"/>
          </p:cNvSpPr>
          <p:nvPr/>
        </p:nvSpPr>
        <p:spPr>
          <a:xfrm xmlns:a="http://schemas.openxmlformats.org/drawingml/2006/main">
            <a:off x="685800" y="3581400"/>
            <a:ext cx="1038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000000"/>
                </a:solidFill>
                <a:latin typeface="Arial"/>
                <a:ea typeface="Arial"/>
                <a:cs typeface="Arial"/>
              </a:defRPr>
            </a:pPr>
            <a:r>
              <a:rPr sz="2100" b="0">
                <a:solidFill>
                  <a:srgbClr val="000000"/>
                </a:solidFill>
                <a:latin typeface="Arial"/>
                <a:ea typeface="Arial"/>
                <a:cs typeface="Arial"/>
              </a:rPr>
              <a:t>Single recordings, four-channel input, and five-second segments</a:t>
            </a:r>
          </a:p>
        </p:txBody>
      </p:sp>
      <p:sp>
        <p:nvSpPr>
          <p:cNvPr id="4" name="">
            <a:extLst xmlns:a="http://schemas.openxmlformats.org/drawingml/2006/main">
              <a:ext uri="{FF2B5EF4-FFF2-40B4-BE49-F238E27FC236}">
                <a16:creationId xmlns:a16="http://schemas.microsoft.com/office/drawing/2014/main" id="{745AE3EC-C0BA-426A-87CE-CA28D5B007D7}"/>
              </a:ext>
            </a:extLst>
          </p:cNvPr>
          <p:cNvSpPr>
            <a:spLocks xmlns:a="http://schemas.openxmlformats.org/drawingml/2006/main" noGrp="1"/>
          </p:cNvSpPr>
          <p:nvPr/>
        </p:nvSpPr>
        <p:spPr>
          <a:xfrm xmlns:a="http://schemas.openxmlformats.org/drawingml/2006/main">
            <a:off x="685800" y="53530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000000"/>
                </a:solidFill>
                <a:latin typeface="Arial"/>
                <a:ea typeface="Arial"/>
                <a:cs typeface="Arial"/>
              </a:defRPr>
            </a:pPr>
            <a:r>
              <a:rPr sz="1725" b="0">
                <a:solidFill>
                  <a:srgbClr val="000000"/>
                </a:solidFill>
                <a:latin typeface="Arial"/>
                <a:ea typeface="Arial"/>
                <a:cs typeface="Arial"/>
              </a:rPr>
              <a:t>Supervisor progress update</a:t>
            </a:r>
          </a:p>
        </p:txBody>
      </p:sp>
    </p:spTree>
    <p:extLst>
      <p:ext uri="{BB962C8B-B14F-4D97-AF65-F5344CB8AC3E}">
        <p14:creationId xmlns:p14="http://schemas.microsoft.com/office/powerpoint/2010/main" val="112493045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94A518E-7B02-4BC4-B0CE-FF30251D10A9}"/>
              </a:ext>
            </a:extLst>
          </p:cNvPr>
          <p:cNvSpPr>
            <a:spLocks xmlns:a="http://schemas.openxmlformats.org/drawingml/2006/main" noGrp="1"/>
          </p:cNvSpPr>
          <p:nvPr/>
        </p:nvSpPr>
        <p:spPr>
          <a:xfrm xmlns:a="http://schemas.openxmlformats.org/drawingml/2006/main">
            <a:off x="609600" y="40957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000000"/>
                </a:solidFill>
                <a:latin typeface="Arial"/>
                <a:ea typeface="Arial"/>
                <a:cs typeface="Arial"/>
              </a:defRPr>
            </a:pPr>
            <a:r>
              <a:rPr sz="3150" b="1">
                <a:solidFill>
                  <a:srgbClr val="000000"/>
                </a:solidFill>
                <a:latin typeface="Arial"/>
                <a:ea typeface="Arial"/>
                <a:cs typeface="Arial"/>
              </a:rPr>
              <a:t>1. The first model used separate segments</a:t>
            </a:r>
          </a:p>
        </p:txBody>
      </p:sp>
      <p:sp>
        <p:nvSpPr>
          <p:cNvPr id="2" name="">
            <a:extLst xmlns:a="http://schemas.openxmlformats.org/drawingml/2006/main">
              <a:ext uri="{FF2B5EF4-FFF2-40B4-BE49-F238E27FC236}">
                <a16:creationId xmlns:a16="http://schemas.microsoft.com/office/drawing/2014/main" id="{62C25CE6-D289-4E39-B699-C71DC6AFADD8}"/>
              </a:ext>
            </a:extLst>
          </p:cNvPr>
          <p:cNvSpPr>
            <a:spLocks xmlns:a="http://schemas.openxmlformats.org/drawingml/2006/main" noGrp="1"/>
          </p:cNvSpPr>
          <p:nvPr/>
        </p:nvSpPr>
        <p:spPr>
          <a:xfrm xmlns:a="http://schemas.openxmlformats.org/drawingml/2006/main">
            <a:off x="609600" y="109537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000000"/>
                </a:solidFill>
                <a:latin typeface="Arial"/>
                <a:ea typeface="Arial"/>
                <a:cs typeface="Arial"/>
              </a:defRPr>
            </a:pPr>
            <a:r>
              <a:rPr sz="1875" b="0">
                <a:solidFill>
                  <a:srgbClr val="000000"/>
                </a:solidFill>
                <a:latin typeface="Arial"/>
                <a:ea typeface="Arial"/>
                <a:cs typeface="Arial"/>
              </a:rPr>
              <a:t>Each site recording was split into five-second segments and treated as a separate input.</a:t>
            </a:r>
          </a:p>
        </p:txBody>
      </p:sp>
      <p:graphicFrame>
        <p:nvGraphicFramePr>
          <p:cNvPr id="10" name=""/>
          <p:cNvGraphicFramePr/>
          <p:nvPr/>
        </p:nvGraphicFramePr>
        <p:xfrm>
          <a:off xmlns:a="http://schemas.openxmlformats.org/drawingml/2006/main" x="609600" y="1905000"/>
          <a:ext xmlns:a="http://schemas.openxmlformats.org/drawingml/2006/main" cx="10972800" cy="1571625"/>
        </p:xfrm>
        <a:graphic xmlns:a="http://schemas.openxmlformats.org/drawingml/2006/main">
          <a:graphicData uri="http://schemas.openxmlformats.org/drawingml/2006/table">
            <a:tbl>
              <a:tblPr firstRow="0" firstCol="0" bandRow="0"/>
              <a:tblGrid>
                <a:gridCol w="2495550"/>
                <a:gridCol w="1695450"/>
                <a:gridCol w="1695450"/>
                <a:gridCol w="1695450"/>
                <a:gridCol w="1695450"/>
                <a:gridCol w="1695450"/>
              </a:tblGrid>
              <a:tr h="523875">
                <a:tc>
                  <a:txBody>
                    <a:bodyPr>
                      <a:noAutofit/>
                    </a:bodyPr>
                    <a:lstStyle/>
                    <a:p>
                      <a:pPr algn="l"/>
                      <a:r>
                        <a:rPr sz="1875" b="1">
                          <a:solidFill>
                            <a:srgbClr val="000000"/>
                          </a:solidFill>
                          <a:latin typeface="Arial"/>
                          <a:ea typeface="Arial"/>
                          <a:cs typeface="Arial"/>
                        </a:rPr>
                        <a:t>Results</a:t>
                      </a:r>
                    </a:p>
                  </a:txBody>
                  <a:tcPr marL="95250" marR="95250" marT="0" marB="0">
                    <a:solidFill>
                      <a:srgbClr val="FFFFFF"/>
                    </a:solidFill>
                  </a:tcPr>
                </a:tc>
                <a:tc>
                  <a:txBody>
                    <a:bodyPr>
                      <a:noAutofit/>
                    </a:bodyPr>
                    <a:lstStyle/>
                    <a:p>
                      <a:pPr algn="ctr"/>
                      <a:r>
                        <a:rPr sz="1875" b="1">
                          <a:solidFill>
                            <a:srgbClr val="000000"/>
                          </a:solidFill>
                          <a:latin typeface="Arial"/>
                          <a:ea typeface="Arial"/>
                          <a:cs typeface="Arial"/>
                        </a:rPr>
                        <a:t>AUROC</a:t>
                      </a:r>
                    </a:p>
                  </a:txBody>
                  <a:tcPr marL="95250" marR="95250" marT="0" marB="0">
                    <a:solidFill>
                      <a:srgbClr val="FFFFFF"/>
                    </a:solidFill>
                  </a:tcPr>
                </a:tc>
                <a:tc>
                  <a:txBody>
                    <a:bodyPr>
                      <a:noAutofit/>
                    </a:bodyPr>
                    <a:lstStyle/>
                    <a:p>
                      <a:pPr algn="ctr"/>
                      <a:r>
                        <a:rPr sz="1875" b="1">
                          <a:solidFill>
                            <a:srgbClr val="000000"/>
                          </a:solidFill>
                          <a:latin typeface="Arial"/>
                          <a:ea typeface="Arial"/>
                          <a:cs typeface="Arial"/>
                        </a:rPr>
                        <a:t>Accuracy</a:t>
                      </a:r>
                    </a:p>
                  </a:txBody>
                  <a:tcPr marL="95250" marR="95250" marT="0" marB="0">
                    <a:solidFill>
                      <a:srgbClr val="FFFFFF"/>
                    </a:solidFill>
                  </a:tcPr>
                </a:tc>
                <a:tc>
                  <a:txBody>
                    <a:bodyPr>
                      <a:noAutofit/>
                    </a:bodyPr>
                    <a:lstStyle/>
                    <a:p>
                      <a:pPr algn="ctr"/>
                      <a:r>
                        <a:rPr sz="1875" b="1">
                          <a:solidFill>
                            <a:srgbClr val="000000"/>
                          </a:solidFill>
                          <a:latin typeface="Arial"/>
                          <a:ea typeface="Arial"/>
                          <a:cs typeface="Arial"/>
                        </a:rPr>
                        <a:t>Precision</a:t>
                      </a:r>
                    </a:p>
                  </a:txBody>
                  <a:tcPr marL="95250" marR="95250" marT="0" marB="0">
                    <a:solidFill>
                      <a:srgbClr val="FFFFFF"/>
                    </a:solidFill>
                  </a:tcPr>
                </a:tc>
                <a:tc>
                  <a:txBody>
                    <a:bodyPr>
                      <a:noAutofit/>
                    </a:bodyPr>
                    <a:lstStyle/>
                    <a:p>
                      <a:pPr algn="ctr"/>
                      <a:r>
                        <a:rPr sz="1875" b="1">
                          <a:solidFill>
                            <a:srgbClr val="000000"/>
                          </a:solidFill>
                          <a:latin typeface="Arial"/>
                          <a:ea typeface="Arial"/>
                          <a:cs typeface="Arial"/>
                        </a:rPr>
                        <a:t>Recall</a:t>
                      </a:r>
                    </a:p>
                  </a:txBody>
                  <a:tcPr marL="95250" marR="95250" marT="0" marB="0">
                    <a:solidFill>
                      <a:srgbClr val="FFFFFF"/>
                    </a:solidFill>
                  </a:tcPr>
                </a:tc>
                <a:tc>
                  <a:txBody>
                    <a:bodyPr>
                      <a:noAutofit/>
                    </a:bodyPr>
                    <a:lstStyle/>
                    <a:p>
                      <a:pPr algn="ctr"/>
                      <a:r>
                        <a:rPr sz="1875" b="1">
                          <a:solidFill>
                            <a:srgbClr val="000000"/>
                          </a:solidFill>
                          <a:latin typeface="Arial"/>
                          <a:ea typeface="Arial"/>
                          <a:cs typeface="Arial"/>
                        </a:rPr>
                        <a:t>F1</a:t>
                      </a:r>
                    </a:p>
                  </a:txBody>
                  <a:tcPr marL="95250" marR="95250" marT="0" marB="0">
                    <a:solidFill>
                      <a:srgbClr val="FFFFFF"/>
                    </a:solidFill>
                  </a:tcPr>
                </a:tc>
              </a:tr>
              <a:tr h="523875">
                <a:tc>
                  <a:txBody>
                    <a:bodyPr>
                      <a:noAutofit/>
                    </a:bodyPr>
                    <a:lstStyle/>
                    <a:p>
                      <a:pPr algn="l"/>
                      <a:r>
                        <a:rPr sz="1875" b="0">
                          <a:solidFill>
                            <a:srgbClr val="000000"/>
                          </a:solidFill>
                          <a:latin typeface="Arial"/>
                          <a:ea typeface="Arial"/>
                          <a:cs typeface="Arial"/>
                        </a:rPr>
                        <a:t>Validation</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0.6858</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63.8%</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22.0%</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64.2%</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32.8%</a:t>
                      </a:r>
                    </a:p>
                  </a:txBody>
                  <a:tcPr marL="95250" marR="95250" marT="0" marB="0">
                    <a:solidFill>
                      <a:srgbClr val="FFFFFF"/>
                    </a:solidFill>
                  </a:tcPr>
                </a:tc>
              </a:tr>
              <a:tr h="523875">
                <a:tc>
                  <a:txBody>
                    <a:bodyPr>
                      <a:noAutofit/>
                    </a:bodyPr>
                    <a:lstStyle/>
                    <a:p>
                      <a:pPr algn="l"/>
                      <a:r>
                        <a:rPr sz="1875" b="0">
                          <a:solidFill>
                            <a:srgbClr val="000000"/>
                          </a:solidFill>
                          <a:latin typeface="Arial"/>
                          <a:ea typeface="Arial"/>
                          <a:cs typeface="Arial"/>
                        </a:rPr>
                        <a:t>Test</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0.7921</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65.8%</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8.8%</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77.5%</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15.9%</a:t>
                      </a:r>
                    </a:p>
                  </a:txBody>
                  <a:tcPr marL="95250" marR="95250" marT="0" marB="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6FF0497-5154-4EFA-A0BB-EB681310E2E6}"/>
              </a:ext>
            </a:extLst>
          </p:cNvPr>
          <p:cNvSpPr>
            <a:spLocks xmlns:a="http://schemas.openxmlformats.org/drawingml/2006/main" noGrp="1"/>
          </p:cNvSpPr>
          <p:nvPr/>
        </p:nvSpPr>
        <p:spPr>
          <a:xfrm xmlns:a="http://schemas.openxmlformats.org/drawingml/2006/main">
            <a:off x="609600" y="3800475"/>
            <a:ext cx="64484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000000"/>
                </a:solidFill>
                <a:latin typeface="Arial"/>
                <a:ea typeface="Arial"/>
                <a:cs typeface="Arial"/>
              </a:defRPr>
            </a:pPr>
            <a:r>
              <a:rPr sz="2100" b="0">
                <a:solidFill>
                  <a:srgbClr val="000000"/>
                </a:solidFill>
                <a:latin typeface="Arial"/>
                <a:ea typeface="Arial"/>
                <a:cs typeface="Arial"/>
              </a:rPr>
              <a:t>A simple CNN with one input channel.</a:t>
            </a:r>
          </a:p>
          <a:p xmlns:a="http://schemas.openxmlformats.org/drawingml/2006/main">
            <a:r>
              <a:t/>
            </a:r>
          </a:p>
          <a:p xmlns:a="http://schemas.openxmlformats.org/drawingml/2006/main">
            <a:pPr>
              <a:defRPr sz="2100" b="0">
                <a:solidFill>
                  <a:srgbClr val="000000"/>
                </a:solidFill>
                <a:latin typeface="Arial"/>
                <a:ea typeface="Arial"/>
                <a:cs typeface="Arial"/>
              </a:defRPr>
            </a:pPr>
            <a:r>
              <a:rPr sz="2100" b="0">
                <a:solidFill>
                  <a:srgbClr val="000000"/>
                </a:solidFill>
                <a:latin typeface="Arial"/>
                <a:ea typeface="Arial"/>
                <a:cs typeface="Arial"/>
              </a:rPr>
              <a:t>It caught some HFrEF cases, but produced</a:t>
            </a:r>
          </a:p>
          <a:p xmlns:a="http://schemas.openxmlformats.org/drawingml/2006/main">
            <a:pPr>
              <a:defRPr sz="2100" b="0">
                <a:solidFill>
                  <a:srgbClr val="000000"/>
                </a:solidFill>
                <a:latin typeface="Arial"/>
                <a:ea typeface="Arial"/>
                <a:cs typeface="Arial"/>
              </a:defRPr>
            </a:pPr>
            <a:r>
              <a:rPr sz="2100" b="0">
                <a:solidFill>
                  <a:srgbClr val="000000"/>
                </a:solidFill>
                <a:latin typeface="Arial"/>
                <a:ea typeface="Arial"/>
                <a:cs typeface="Arial"/>
              </a:rPr>
              <a:t>too many false alarms.</a:t>
            </a:r>
          </a:p>
        </p:txBody>
      </p:sp>
      <p:sp>
        <p:nvSpPr>
          <p:cNvPr id="5" name="">
            <a:extLst xmlns:a="http://schemas.openxmlformats.org/drawingml/2006/main">
              <a:ext uri="{FF2B5EF4-FFF2-40B4-BE49-F238E27FC236}">
                <a16:creationId xmlns:a16="http://schemas.microsoft.com/office/drawing/2014/main" id="{94B7F4B7-F682-4170-909B-15A6D0DFFB1E}"/>
              </a:ext>
            </a:extLst>
          </p:cNvPr>
          <p:cNvSpPr>
            <a:spLocks xmlns:a="http://schemas.openxmlformats.org/drawingml/2006/main" noGrp="1"/>
          </p:cNvSpPr>
          <p:nvPr/>
        </p:nvSpPr>
        <p:spPr>
          <a:xfrm xmlns:a="http://schemas.openxmlformats.org/drawingml/2006/main">
            <a:off x="7381875" y="3762375"/>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000000"/>
                </a:solidFill>
                <a:latin typeface="Arial"/>
                <a:ea typeface="Arial"/>
                <a:cs typeface="Arial"/>
              </a:defRPr>
            </a:pPr>
            <a:r>
              <a:rPr sz="1725" b="1">
                <a:solidFill>
                  <a:srgbClr val="000000"/>
                </a:solidFill>
                <a:latin typeface="Arial"/>
                <a:ea typeface="Arial"/>
                <a:cs typeface="Arial"/>
              </a:rPr>
              <a:t>Test confusion matrix</a:t>
            </a:r>
          </a:p>
        </p:txBody>
      </p:sp>
      <p:graphicFrame>
        <p:nvGraphicFramePr>
          <p:cNvPr id="13" name=""/>
          <p:cNvGraphicFramePr/>
          <p:nvPr/>
        </p:nvGraphicFramePr>
        <p:xfrm>
          <a:off xmlns:a="http://schemas.openxmlformats.org/drawingml/2006/main" x="7381875" y="4181475"/>
          <a:ext xmlns:a="http://schemas.openxmlformats.org/drawingml/2006/main" cx="4191000" cy="1457325"/>
        </p:xfrm>
        <a:graphic xmlns:a="http://schemas.openxmlformats.org/drawingml/2006/main">
          <a:graphicData uri="http://schemas.openxmlformats.org/drawingml/2006/table">
            <a:tbl>
              <a:tblPr firstRow="0" firstCol="0" bandRow="0"/>
              <a:tblGrid>
                <a:gridCol w="1809750"/>
                <a:gridCol w="1428750"/>
                <a:gridCol w="952500"/>
              </a:tblGrid>
              <a:tr h="485775">
                <a:tc>
                  <a:txBody>
                    <a:bodyPr>
                      <a:noAutofit/>
                    </a:bodyPr>
                    <a:lstStyle/>
                    <a:p>
                      <a:pPr algn="l"/>
                      <a:r>
                        <a:rPr sz="1350" b="1">
                          <a:solidFill>
                            <a:srgbClr val="000000"/>
                          </a:solidFill>
                          <a:latin typeface="Arial"/>
                          <a:ea typeface="Arial"/>
                          <a:cs typeface="Arial"/>
                        </a:rPr>
                        <a:t>Actual / predicted</a:t>
                      </a:r>
                    </a:p>
                  </a:txBody>
                  <a:tcPr marL="95250" marR="95250" marT="0" marB="0">
                    <a:solidFill>
                      <a:srgbClr val="FFFFFF"/>
                    </a:solidFill>
                  </a:tcPr>
                </a:tc>
                <a:tc>
                  <a:txBody>
                    <a:bodyPr>
                      <a:noAutofit/>
                    </a:bodyPr>
                    <a:lstStyle/>
                    <a:p>
                      <a:pPr algn="ctr"/>
                      <a:r>
                        <a:rPr sz="1350" b="1">
                          <a:solidFill>
                            <a:srgbClr val="000000"/>
                          </a:solidFill>
                          <a:latin typeface="Arial"/>
                          <a:ea typeface="Arial"/>
                          <a:cs typeface="Arial"/>
                        </a:rPr>
                        <a:t>Non-HFrEF</a:t>
                      </a:r>
                    </a:p>
                  </a:txBody>
                  <a:tcPr marL="95250" marR="95250" marT="0" marB="0">
                    <a:solidFill>
                      <a:srgbClr val="FFFFFF"/>
                    </a:solidFill>
                  </a:tcPr>
                </a:tc>
                <a:tc>
                  <a:txBody>
                    <a:bodyPr>
                      <a:noAutofit/>
                    </a:bodyPr>
                    <a:lstStyle/>
                    <a:p>
                      <a:pPr algn="ctr"/>
                      <a:r>
                        <a:rPr sz="1350" b="1">
                          <a:solidFill>
                            <a:srgbClr val="000000"/>
                          </a:solidFill>
                          <a:latin typeface="Arial"/>
                          <a:ea typeface="Arial"/>
                          <a:cs typeface="Arial"/>
                        </a:rPr>
                        <a:t>HFrEF</a:t>
                      </a:r>
                    </a:p>
                  </a:txBody>
                  <a:tcPr marL="95250" marR="95250" marT="0" marB="0">
                    <a:solidFill>
                      <a:srgbClr val="FFFFFF"/>
                    </a:solidFill>
                  </a:tcPr>
                </a:tc>
              </a:tr>
              <a:tr h="485775">
                <a:tc>
                  <a:txBody>
                    <a:bodyPr>
                      <a:noAutofit/>
                    </a:bodyPr>
                    <a:lstStyle/>
                    <a:p>
                      <a:pPr algn="l"/>
                      <a:r>
                        <a:rPr sz="1350" b="0">
                          <a:solidFill>
                            <a:srgbClr val="000000"/>
                          </a:solidFill>
                          <a:latin typeface="Arial"/>
                          <a:ea typeface="Arial"/>
                          <a:cs typeface="Arial"/>
                        </a:rPr>
                        <a:t>Non-HFrEF</a:t>
                      </a:r>
                    </a:p>
                  </a:txBody>
                  <a:tcPr marL="95250" marR="95250" marT="0" marB="0">
                    <a:solidFill>
                      <a:srgbClr val="FFFFFF"/>
                    </a:solidFill>
                  </a:tcPr>
                </a:tc>
                <a:tc>
                  <a:txBody>
                    <a:bodyPr>
                      <a:noAutofit/>
                    </a:bodyPr>
                    <a:lstStyle/>
                    <a:p>
                      <a:pPr algn="ctr"/>
                      <a:r>
                        <a:rPr sz="1350" b="0">
                          <a:solidFill>
                            <a:srgbClr val="000000"/>
                          </a:solidFill>
                          <a:latin typeface="Arial"/>
                          <a:ea typeface="Arial"/>
                          <a:cs typeface="Arial"/>
                        </a:rPr>
                        <a:t>1802</a:t>
                      </a:r>
                    </a:p>
                  </a:txBody>
                  <a:tcPr marL="95250" marR="95250" marT="0" marB="0">
                    <a:solidFill>
                      <a:srgbClr val="FFFFFF"/>
                    </a:solidFill>
                  </a:tcPr>
                </a:tc>
                <a:tc>
                  <a:txBody>
                    <a:bodyPr>
                      <a:noAutofit/>
                    </a:bodyPr>
                    <a:lstStyle/>
                    <a:p>
                      <a:pPr algn="ctr"/>
                      <a:r>
                        <a:rPr sz="1350" b="0">
                          <a:solidFill>
                            <a:srgbClr val="000000"/>
                          </a:solidFill>
                          <a:latin typeface="Arial"/>
                          <a:ea typeface="Arial"/>
                          <a:cs typeface="Arial"/>
                        </a:rPr>
                        <a:t>958</a:t>
                      </a:r>
                    </a:p>
                  </a:txBody>
                  <a:tcPr marL="95250" marR="95250" marT="0" marB="0">
                    <a:solidFill>
                      <a:srgbClr val="FFFFFF"/>
                    </a:solidFill>
                  </a:tcPr>
                </a:tc>
              </a:tr>
              <a:tr h="485775">
                <a:tc>
                  <a:txBody>
                    <a:bodyPr>
                      <a:noAutofit/>
                    </a:bodyPr>
                    <a:lstStyle/>
                    <a:p>
                      <a:pPr algn="l"/>
                      <a:r>
                        <a:rPr sz="1350" b="0">
                          <a:solidFill>
                            <a:srgbClr val="000000"/>
                          </a:solidFill>
                          <a:latin typeface="Arial"/>
                          <a:ea typeface="Arial"/>
                          <a:cs typeface="Arial"/>
                        </a:rPr>
                        <a:t>HFrEF</a:t>
                      </a:r>
                    </a:p>
                  </a:txBody>
                  <a:tcPr marL="95250" marR="95250" marT="0" marB="0">
                    <a:solidFill>
                      <a:srgbClr val="FFFFFF"/>
                    </a:solidFill>
                  </a:tcPr>
                </a:tc>
                <a:tc>
                  <a:txBody>
                    <a:bodyPr>
                      <a:noAutofit/>
                    </a:bodyPr>
                    <a:lstStyle/>
                    <a:p>
                      <a:pPr algn="ctr"/>
                      <a:r>
                        <a:rPr sz="1350" b="0">
                          <a:solidFill>
                            <a:srgbClr val="000000"/>
                          </a:solidFill>
                          <a:latin typeface="Arial"/>
                          <a:ea typeface="Arial"/>
                          <a:cs typeface="Arial"/>
                        </a:rPr>
                        <a:t>27</a:t>
                      </a:r>
                    </a:p>
                  </a:txBody>
                  <a:tcPr marL="95250" marR="95250" marT="0" marB="0">
                    <a:solidFill>
                      <a:srgbClr val="FFFFFF"/>
                    </a:solidFill>
                  </a:tcPr>
                </a:tc>
                <a:tc>
                  <a:txBody>
                    <a:bodyPr>
                      <a:noAutofit/>
                    </a:bodyPr>
                    <a:lstStyle/>
                    <a:p>
                      <a:pPr algn="ctr"/>
                      <a:r>
                        <a:rPr sz="1350" b="0">
                          <a:solidFill>
                            <a:srgbClr val="000000"/>
                          </a:solidFill>
                          <a:latin typeface="Arial"/>
                          <a:ea typeface="Arial"/>
                          <a:cs typeface="Arial"/>
                        </a:rPr>
                        <a:t>93</a:t>
                      </a:r>
                    </a:p>
                  </a:txBody>
                  <a:tcPr marL="95250" marR="95250" marT="0" marB="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E70FDF8E-4FA0-4B5A-ABAD-039014BD0E75}"/>
              </a:ext>
            </a:extLst>
          </p:cNvPr>
          <p:cNvSpPr>
            <a:spLocks xmlns:a="http://schemas.openxmlformats.org/drawingml/2006/main" noGrp="1"/>
          </p:cNvSpPr>
          <p:nvPr/>
        </p:nvSpPr>
        <p:spPr>
          <a:xfrm xmlns:a="http://schemas.openxmlformats.org/drawingml/2006/main">
            <a:off x="609600" y="61055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000000"/>
                </a:solidFill>
                <a:latin typeface="Arial"/>
                <a:ea typeface="Arial"/>
                <a:cs typeface="Arial"/>
              </a:defRPr>
            </a:pPr>
            <a:r>
              <a:rPr sz="1350" b="0">
                <a:solidFill>
                  <a:srgbClr val="000000"/>
                </a:solidFill>
                <a:latin typeface="Arial"/>
                <a:ea typeface="Arial"/>
                <a:cs typeface="Arial"/>
              </a:rPr>
              <a:t>Accuracy is overall. Precision, recall and F1 refer to HFrEF.</a:t>
            </a:r>
          </a:p>
          <a:p xmlns:a="http://schemas.openxmlformats.org/drawingml/2006/main">
            <a:pPr>
              <a:defRPr sz="1350" b="0">
                <a:solidFill>
                  <a:srgbClr val="000000"/>
                </a:solidFill>
                <a:latin typeface="Arial"/>
                <a:ea typeface="Arial"/>
                <a:cs typeface="Arial"/>
              </a:defRPr>
            </a:pPr>
            <a:r>
              <a:rPr sz="1350" b="0">
                <a:solidFill>
                  <a:srgbClr val="000000"/>
                </a:solidFill>
                <a:latin typeface="Arial"/>
                <a:ea typeface="Arial"/>
                <a:cs typeface="Arial"/>
              </a:rPr>
              <a:t>Historical evaluation: 2,400 validation segments and 2,880 test segments. Cutoff 0.5452.</a:t>
            </a:r>
          </a:p>
        </p:txBody>
      </p:sp>
    </p:spTree>
    <p:extLst>
      <p:ext uri="{BB962C8B-B14F-4D97-AF65-F5344CB8AC3E}">
        <p14:creationId xmlns:p14="http://schemas.microsoft.com/office/powerpoint/2010/main" val="99265203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D171841-211A-4162-95D3-68E6B4601370}"/>
              </a:ext>
            </a:extLst>
          </p:cNvPr>
          <p:cNvSpPr>
            <a:spLocks xmlns:a="http://schemas.openxmlformats.org/drawingml/2006/main" noGrp="1"/>
          </p:cNvSpPr>
          <p:nvPr/>
        </p:nvSpPr>
        <p:spPr>
          <a:xfrm xmlns:a="http://schemas.openxmlformats.org/drawingml/2006/main">
            <a:off x="609600" y="40957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000000"/>
                </a:solidFill>
                <a:latin typeface="Arial"/>
                <a:ea typeface="Arial"/>
                <a:cs typeface="Arial"/>
              </a:defRPr>
            </a:pPr>
            <a:r>
              <a:rPr sz="3150" b="1">
                <a:solidFill>
                  <a:srgbClr val="000000"/>
                </a:solidFill>
                <a:latin typeface="Arial"/>
                <a:ea typeface="Arial"/>
                <a:cs typeface="Arial"/>
              </a:rPr>
              <a:t>2. Removing segmentation was not enough</a:t>
            </a:r>
          </a:p>
        </p:txBody>
      </p:sp>
      <p:sp>
        <p:nvSpPr>
          <p:cNvPr id="2" name="">
            <a:extLst xmlns:a="http://schemas.openxmlformats.org/drawingml/2006/main">
              <a:ext uri="{FF2B5EF4-FFF2-40B4-BE49-F238E27FC236}">
                <a16:creationId xmlns:a16="http://schemas.microsoft.com/office/drawing/2014/main" id="{026C034F-5824-422B-8B44-56C7A64407AD}"/>
              </a:ext>
            </a:extLst>
          </p:cNvPr>
          <p:cNvSpPr>
            <a:spLocks xmlns:a="http://schemas.openxmlformats.org/drawingml/2006/main" noGrp="1"/>
          </p:cNvSpPr>
          <p:nvPr/>
        </p:nvSpPr>
        <p:spPr>
          <a:xfrm xmlns:a="http://schemas.openxmlformats.org/drawingml/2006/main">
            <a:off x="609600" y="109537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000000"/>
                </a:solidFill>
                <a:latin typeface="Arial"/>
                <a:ea typeface="Arial"/>
                <a:cs typeface="Arial"/>
              </a:defRPr>
            </a:pPr>
            <a:r>
              <a:rPr sz="1875" b="0">
                <a:solidFill>
                  <a:srgbClr val="000000"/>
                </a:solidFill>
                <a:latin typeface="Arial"/>
                <a:ea typeface="Arial"/>
                <a:cs typeface="Arial"/>
              </a:rPr>
              <a:t>I used the full 30 seconds for training and changed the loss to focal loss.</a:t>
            </a:r>
          </a:p>
        </p:txBody>
      </p:sp>
      <p:graphicFrame>
        <p:nvGraphicFramePr>
          <p:cNvPr id="10" name=""/>
          <p:cNvGraphicFramePr/>
          <p:nvPr/>
        </p:nvGraphicFramePr>
        <p:xfrm>
          <a:off xmlns:a="http://schemas.openxmlformats.org/drawingml/2006/main" x="609600" y="1905000"/>
          <a:ext xmlns:a="http://schemas.openxmlformats.org/drawingml/2006/main" cx="10972800" cy="1571625"/>
        </p:xfrm>
        <a:graphic xmlns:a="http://schemas.openxmlformats.org/drawingml/2006/main">
          <a:graphicData uri="http://schemas.openxmlformats.org/drawingml/2006/table">
            <a:tbl>
              <a:tblPr firstRow="0" firstCol="0" bandRow="0"/>
              <a:tblGrid>
                <a:gridCol w="2495550"/>
                <a:gridCol w="1695450"/>
                <a:gridCol w="1695450"/>
                <a:gridCol w="1695450"/>
                <a:gridCol w="1695450"/>
                <a:gridCol w="1695450"/>
              </a:tblGrid>
              <a:tr h="523875">
                <a:tc>
                  <a:txBody>
                    <a:bodyPr>
                      <a:noAutofit/>
                    </a:bodyPr>
                    <a:lstStyle/>
                    <a:p>
                      <a:pPr algn="l"/>
                      <a:r>
                        <a:rPr sz="1875" b="1">
                          <a:solidFill>
                            <a:srgbClr val="000000"/>
                          </a:solidFill>
                          <a:latin typeface="Arial"/>
                          <a:ea typeface="Arial"/>
                          <a:cs typeface="Arial"/>
                        </a:rPr>
                        <a:t>Results</a:t>
                      </a:r>
                    </a:p>
                  </a:txBody>
                  <a:tcPr marL="95250" marR="95250" marT="0" marB="0">
                    <a:solidFill>
                      <a:srgbClr val="FFFFFF"/>
                    </a:solidFill>
                  </a:tcPr>
                </a:tc>
                <a:tc>
                  <a:txBody>
                    <a:bodyPr>
                      <a:noAutofit/>
                    </a:bodyPr>
                    <a:lstStyle/>
                    <a:p>
                      <a:pPr algn="ctr"/>
                      <a:r>
                        <a:rPr sz="1875" b="1">
                          <a:solidFill>
                            <a:srgbClr val="000000"/>
                          </a:solidFill>
                          <a:latin typeface="Arial"/>
                          <a:ea typeface="Arial"/>
                          <a:cs typeface="Arial"/>
                        </a:rPr>
                        <a:t>AUROC</a:t>
                      </a:r>
                    </a:p>
                  </a:txBody>
                  <a:tcPr marL="95250" marR="95250" marT="0" marB="0">
                    <a:solidFill>
                      <a:srgbClr val="FFFFFF"/>
                    </a:solidFill>
                  </a:tcPr>
                </a:tc>
                <a:tc>
                  <a:txBody>
                    <a:bodyPr>
                      <a:noAutofit/>
                    </a:bodyPr>
                    <a:lstStyle/>
                    <a:p>
                      <a:pPr algn="ctr"/>
                      <a:r>
                        <a:rPr sz="1875" b="1">
                          <a:solidFill>
                            <a:srgbClr val="000000"/>
                          </a:solidFill>
                          <a:latin typeface="Arial"/>
                          <a:ea typeface="Arial"/>
                          <a:cs typeface="Arial"/>
                        </a:rPr>
                        <a:t>Accuracy</a:t>
                      </a:r>
                    </a:p>
                  </a:txBody>
                  <a:tcPr marL="95250" marR="95250" marT="0" marB="0">
                    <a:solidFill>
                      <a:srgbClr val="FFFFFF"/>
                    </a:solidFill>
                  </a:tcPr>
                </a:tc>
                <a:tc>
                  <a:txBody>
                    <a:bodyPr>
                      <a:noAutofit/>
                    </a:bodyPr>
                    <a:lstStyle/>
                    <a:p>
                      <a:pPr algn="ctr"/>
                      <a:r>
                        <a:rPr sz="1875" b="1">
                          <a:solidFill>
                            <a:srgbClr val="000000"/>
                          </a:solidFill>
                          <a:latin typeface="Arial"/>
                          <a:ea typeface="Arial"/>
                          <a:cs typeface="Arial"/>
                        </a:rPr>
                        <a:t>Precision</a:t>
                      </a:r>
                    </a:p>
                  </a:txBody>
                  <a:tcPr marL="95250" marR="95250" marT="0" marB="0">
                    <a:solidFill>
                      <a:srgbClr val="FFFFFF"/>
                    </a:solidFill>
                  </a:tcPr>
                </a:tc>
                <a:tc>
                  <a:txBody>
                    <a:bodyPr>
                      <a:noAutofit/>
                    </a:bodyPr>
                    <a:lstStyle/>
                    <a:p>
                      <a:pPr algn="ctr"/>
                      <a:r>
                        <a:rPr sz="1875" b="1">
                          <a:solidFill>
                            <a:srgbClr val="000000"/>
                          </a:solidFill>
                          <a:latin typeface="Arial"/>
                          <a:ea typeface="Arial"/>
                          <a:cs typeface="Arial"/>
                        </a:rPr>
                        <a:t>Recall</a:t>
                      </a:r>
                    </a:p>
                  </a:txBody>
                  <a:tcPr marL="95250" marR="95250" marT="0" marB="0">
                    <a:solidFill>
                      <a:srgbClr val="FFFFFF"/>
                    </a:solidFill>
                  </a:tcPr>
                </a:tc>
                <a:tc>
                  <a:txBody>
                    <a:bodyPr>
                      <a:noAutofit/>
                    </a:bodyPr>
                    <a:lstStyle/>
                    <a:p>
                      <a:pPr algn="ctr"/>
                      <a:r>
                        <a:rPr sz="1875" b="1">
                          <a:solidFill>
                            <a:srgbClr val="000000"/>
                          </a:solidFill>
                          <a:latin typeface="Arial"/>
                          <a:ea typeface="Arial"/>
                          <a:cs typeface="Arial"/>
                        </a:rPr>
                        <a:t>F1</a:t>
                      </a:r>
                    </a:p>
                  </a:txBody>
                  <a:tcPr marL="95250" marR="95250" marT="0" marB="0">
                    <a:solidFill>
                      <a:srgbClr val="FFFFFF"/>
                    </a:solidFill>
                  </a:tcPr>
                </a:tc>
              </a:tr>
              <a:tr h="523875">
                <a:tc>
                  <a:txBody>
                    <a:bodyPr>
                      <a:noAutofit/>
                    </a:bodyPr>
                    <a:lstStyle/>
                    <a:p>
                      <a:pPr algn="l"/>
                      <a:r>
                        <a:rPr sz="1875" b="0">
                          <a:solidFill>
                            <a:srgbClr val="000000"/>
                          </a:solidFill>
                          <a:latin typeface="Arial"/>
                          <a:ea typeface="Arial"/>
                          <a:cs typeface="Arial"/>
                        </a:rPr>
                        <a:t>Validation</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0.6995</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76.5%</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30.3%</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54.5%</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39.0%</a:t>
                      </a:r>
                    </a:p>
                  </a:txBody>
                  <a:tcPr marL="95250" marR="95250" marT="0" marB="0">
                    <a:solidFill>
                      <a:srgbClr val="FFFFFF"/>
                    </a:solidFill>
                  </a:tcPr>
                </a:tc>
              </a:tr>
              <a:tr h="523875">
                <a:tc>
                  <a:txBody>
                    <a:bodyPr>
                      <a:noAutofit/>
                    </a:bodyPr>
                    <a:lstStyle/>
                    <a:p>
                      <a:pPr algn="l"/>
                      <a:r>
                        <a:rPr sz="1875" b="0">
                          <a:solidFill>
                            <a:srgbClr val="000000"/>
                          </a:solidFill>
                          <a:latin typeface="Arial"/>
                          <a:ea typeface="Arial"/>
                          <a:cs typeface="Arial"/>
                        </a:rPr>
                        <a:t>Legacy test*</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0.6160</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62.7%</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6.5%</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59.2%</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11.7%</a:t>
                      </a:r>
                    </a:p>
                  </a:txBody>
                  <a:tcPr marL="95250" marR="95250" marT="0" marB="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AD21993-5C70-4593-AEAB-A517646D1543}"/>
              </a:ext>
            </a:extLst>
          </p:cNvPr>
          <p:cNvSpPr>
            <a:spLocks xmlns:a="http://schemas.openxmlformats.org/drawingml/2006/main" noGrp="1"/>
          </p:cNvSpPr>
          <p:nvPr/>
        </p:nvSpPr>
        <p:spPr>
          <a:xfrm xmlns:a="http://schemas.openxmlformats.org/drawingml/2006/main">
            <a:off x="609600" y="3800475"/>
            <a:ext cx="64484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000000"/>
                </a:solidFill>
                <a:latin typeface="Arial"/>
                <a:ea typeface="Arial"/>
                <a:cs typeface="Arial"/>
              </a:defRPr>
            </a:pPr>
            <a:r>
              <a:rPr sz="2100" b="0">
                <a:solidFill>
                  <a:srgbClr val="000000"/>
                </a:solidFill>
                <a:latin typeface="Arial"/>
                <a:ea typeface="Arial"/>
                <a:cs typeface="Arial"/>
              </a:rPr>
              <a:t>Validation improved a little.</a:t>
            </a:r>
          </a:p>
          <a:p xmlns:a="http://schemas.openxmlformats.org/drawingml/2006/main">
            <a:r>
              <a:t/>
            </a:r>
          </a:p>
          <a:p xmlns:a="http://schemas.openxmlformats.org/drawingml/2006/main">
            <a:pPr>
              <a:defRPr sz="2100" b="0">
                <a:solidFill>
                  <a:srgbClr val="000000"/>
                </a:solidFill>
                <a:latin typeface="Arial"/>
                <a:ea typeface="Arial"/>
                <a:cs typeface="Arial"/>
              </a:defRPr>
            </a:pPr>
            <a:r>
              <a:rPr sz="2100" b="0">
                <a:solidFill>
                  <a:srgbClr val="000000"/>
                </a:solidFill>
                <a:latin typeface="Arial"/>
                <a:ea typeface="Arial"/>
                <a:cs typeface="Arial"/>
              </a:rPr>
              <a:t>The model still saw one site at a time.</a:t>
            </a:r>
          </a:p>
          <a:p xmlns:a="http://schemas.openxmlformats.org/drawingml/2006/main">
            <a:pPr>
              <a:defRPr sz="2100" b="0">
                <a:solidFill>
                  <a:srgbClr val="000000"/>
                </a:solidFill>
                <a:latin typeface="Arial"/>
                <a:ea typeface="Arial"/>
                <a:cs typeface="Arial"/>
              </a:defRPr>
            </a:pPr>
            <a:r>
              <a:rPr sz="2100" b="0">
                <a:solidFill>
                  <a:srgbClr val="000000"/>
                </a:solidFill>
                <a:latin typeface="Arial"/>
                <a:ea typeface="Arial"/>
                <a:cs typeface="Arial"/>
              </a:rPr>
              <a:t>It was missing the patient grouping.</a:t>
            </a:r>
          </a:p>
        </p:txBody>
      </p:sp>
      <p:sp>
        <p:nvSpPr>
          <p:cNvPr id="5" name="">
            <a:extLst xmlns:a="http://schemas.openxmlformats.org/drawingml/2006/main">
              <a:ext uri="{FF2B5EF4-FFF2-40B4-BE49-F238E27FC236}">
                <a16:creationId xmlns:a16="http://schemas.microsoft.com/office/drawing/2014/main" id="{EFC8525E-D043-4D84-98E8-C7F1E17EB494}"/>
              </a:ext>
            </a:extLst>
          </p:cNvPr>
          <p:cNvSpPr>
            <a:spLocks xmlns:a="http://schemas.openxmlformats.org/drawingml/2006/main" noGrp="1"/>
          </p:cNvSpPr>
          <p:nvPr/>
        </p:nvSpPr>
        <p:spPr>
          <a:xfrm xmlns:a="http://schemas.openxmlformats.org/drawingml/2006/main">
            <a:off x="7381875" y="3762375"/>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000000"/>
                </a:solidFill>
                <a:latin typeface="Arial"/>
                <a:ea typeface="Arial"/>
                <a:cs typeface="Arial"/>
              </a:defRPr>
            </a:pPr>
            <a:r>
              <a:rPr sz="1725" b="1">
                <a:solidFill>
                  <a:srgbClr val="000000"/>
                </a:solidFill>
                <a:latin typeface="Arial"/>
                <a:ea typeface="Arial"/>
                <a:cs typeface="Arial"/>
              </a:rPr>
              <a:t>Test confusion matrix</a:t>
            </a:r>
          </a:p>
        </p:txBody>
      </p:sp>
      <p:graphicFrame>
        <p:nvGraphicFramePr>
          <p:cNvPr id="13" name=""/>
          <p:cNvGraphicFramePr/>
          <p:nvPr/>
        </p:nvGraphicFramePr>
        <p:xfrm>
          <a:off xmlns:a="http://schemas.openxmlformats.org/drawingml/2006/main" x="7381875" y="4181475"/>
          <a:ext xmlns:a="http://schemas.openxmlformats.org/drawingml/2006/main" cx="4191000" cy="1457325"/>
        </p:xfrm>
        <a:graphic xmlns:a="http://schemas.openxmlformats.org/drawingml/2006/main">
          <a:graphicData uri="http://schemas.openxmlformats.org/drawingml/2006/table">
            <a:tbl>
              <a:tblPr firstRow="0" firstCol="0" bandRow="0"/>
              <a:tblGrid>
                <a:gridCol w="1809750"/>
                <a:gridCol w="1428750"/>
                <a:gridCol w="952500"/>
              </a:tblGrid>
              <a:tr h="485775">
                <a:tc>
                  <a:txBody>
                    <a:bodyPr>
                      <a:noAutofit/>
                    </a:bodyPr>
                    <a:lstStyle/>
                    <a:p>
                      <a:pPr algn="l"/>
                      <a:r>
                        <a:rPr sz="1350" b="1">
                          <a:solidFill>
                            <a:srgbClr val="000000"/>
                          </a:solidFill>
                          <a:latin typeface="Arial"/>
                          <a:ea typeface="Arial"/>
                          <a:cs typeface="Arial"/>
                        </a:rPr>
                        <a:t>Actual / predicted</a:t>
                      </a:r>
                    </a:p>
                  </a:txBody>
                  <a:tcPr marL="95250" marR="95250" marT="0" marB="0">
                    <a:solidFill>
                      <a:srgbClr val="FFFFFF"/>
                    </a:solidFill>
                  </a:tcPr>
                </a:tc>
                <a:tc>
                  <a:txBody>
                    <a:bodyPr>
                      <a:noAutofit/>
                    </a:bodyPr>
                    <a:lstStyle/>
                    <a:p>
                      <a:pPr algn="ctr"/>
                      <a:r>
                        <a:rPr sz="1350" b="1">
                          <a:solidFill>
                            <a:srgbClr val="000000"/>
                          </a:solidFill>
                          <a:latin typeface="Arial"/>
                          <a:ea typeface="Arial"/>
                          <a:cs typeface="Arial"/>
                        </a:rPr>
                        <a:t>Non-HFrEF</a:t>
                      </a:r>
                    </a:p>
                  </a:txBody>
                  <a:tcPr marL="95250" marR="95250" marT="0" marB="0">
                    <a:solidFill>
                      <a:srgbClr val="FFFFFF"/>
                    </a:solidFill>
                  </a:tcPr>
                </a:tc>
                <a:tc>
                  <a:txBody>
                    <a:bodyPr>
                      <a:noAutofit/>
                    </a:bodyPr>
                    <a:lstStyle/>
                    <a:p>
                      <a:pPr algn="ctr"/>
                      <a:r>
                        <a:rPr sz="1350" b="1">
                          <a:solidFill>
                            <a:srgbClr val="000000"/>
                          </a:solidFill>
                          <a:latin typeface="Arial"/>
                          <a:ea typeface="Arial"/>
                          <a:cs typeface="Arial"/>
                        </a:rPr>
                        <a:t>HFrEF</a:t>
                      </a:r>
                    </a:p>
                  </a:txBody>
                  <a:tcPr marL="95250" marR="95250" marT="0" marB="0">
                    <a:solidFill>
                      <a:srgbClr val="FFFFFF"/>
                    </a:solidFill>
                  </a:tcPr>
                </a:tc>
              </a:tr>
              <a:tr h="485775">
                <a:tc>
                  <a:txBody>
                    <a:bodyPr>
                      <a:noAutofit/>
                    </a:bodyPr>
                    <a:lstStyle/>
                    <a:p>
                      <a:pPr algn="l"/>
                      <a:r>
                        <a:rPr sz="1350" b="0">
                          <a:solidFill>
                            <a:srgbClr val="000000"/>
                          </a:solidFill>
                          <a:latin typeface="Arial"/>
                          <a:ea typeface="Arial"/>
                          <a:cs typeface="Arial"/>
                        </a:rPr>
                        <a:t>Non-HFrEF</a:t>
                      </a:r>
                    </a:p>
                  </a:txBody>
                  <a:tcPr marL="95250" marR="95250" marT="0" marB="0">
                    <a:solidFill>
                      <a:srgbClr val="FFFFFF"/>
                    </a:solidFill>
                  </a:tcPr>
                </a:tc>
                <a:tc>
                  <a:txBody>
                    <a:bodyPr>
                      <a:noAutofit/>
                    </a:bodyPr>
                    <a:lstStyle/>
                    <a:p>
                      <a:pPr algn="ctr"/>
                      <a:r>
                        <a:rPr sz="1350" b="0">
                          <a:solidFill>
                            <a:srgbClr val="000000"/>
                          </a:solidFill>
                          <a:latin typeface="Arial"/>
                          <a:ea typeface="Arial"/>
                          <a:cs typeface="Arial"/>
                        </a:rPr>
                        <a:t>1735</a:t>
                      </a:r>
                    </a:p>
                  </a:txBody>
                  <a:tcPr marL="95250" marR="95250" marT="0" marB="0">
                    <a:solidFill>
                      <a:srgbClr val="FFFFFF"/>
                    </a:solidFill>
                  </a:tcPr>
                </a:tc>
                <a:tc>
                  <a:txBody>
                    <a:bodyPr>
                      <a:noAutofit/>
                    </a:bodyPr>
                    <a:lstStyle/>
                    <a:p>
                      <a:pPr algn="ctr"/>
                      <a:r>
                        <a:rPr sz="1350" b="0">
                          <a:solidFill>
                            <a:srgbClr val="000000"/>
                          </a:solidFill>
                          <a:latin typeface="Arial"/>
                          <a:ea typeface="Arial"/>
                          <a:cs typeface="Arial"/>
                        </a:rPr>
                        <a:t>1025</a:t>
                      </a:r>
                    </a:p>
                  </a:txBody>
                  <a:tcPr marL="95250" marR="95250" marT="0" marB="0">
                    <a:solidFill>
                      <a:srgbClr val="FFFFFF"/>
                    </a:solidFill>
                  </a:tcPr>
                </a:tc>
              </a:tr>
              <a:tr h="485775">
                <a:tc>
                  <a:txBody>
                    <a:bodyPr>
                      <a:noAutofit/>
                    </a:bodyPr>
                    <a:lstStyle/>
                    <a:p>
                      <a:pPr algn="l"/>
                      <a:r>
                        <a:rPr sz="1350" b="0">
                          <a:solidFill>
                            <a:srgbClr val="000000"/>
                          </a:solidFill>
                          <a:latin typeface="Arial"/>
                          <a:ea typeface="Arial"/>
                          <a:cs typeface="Arial"/>
                        </a:rPr>
                        <a:t>HFrEF</a:t>
                      </a:r>
                    </a:p>
                  </a:txBody>
                  <a:tcPr marL="95250" marR="95250" marT="0" marB="0">
                    <a:solidFill>
                      <a:srgbClr val="FFFFFF"/>
                    </a:solidFill>
                  </a:tcPr>
                </a:tc>
                <a:tc>
                  <a:txBody>
                    <a:bodyPr>
                      <a:noAutofit/>
                    </a:bodyPr>
                    <a:lstStyle/>
                    <a:p>
                      <a:pPr algn="ctr"/>
                      <a:r>
                        <a:rPr sz="1350" b="0">
                          <a:solidFill>
                            <a:srgbClr val="000000"/>
                          </a:solidFill>
                          <a:latin typeface="Arial"/>
                          <a:ea typeface="Arial"/>
                          <a:cs typeface="Arial"/>
                        </a:rPr>
                        <a:t>49</a:t>
                      </a:r>
                    </a:p>
                  </a:txBody>
                  <a:tcPr marL="95250" marR="95250" marT="0" marB="0">
                    <a:solidFill>
                      <a:srgbClr val="FFFFFF"/>
                    </a:solidFill>
                  </a:tcPr>
                </a:tc>
                <a:tc>
                  <a:txBody>
                    <a:bodyPr>
                      <a:noAutofit/>
                    </a:bodyPr>
                    <a:lstStyle/>
                    <a:p>
                      <a:pPr algn="ctr"/>
                      <a:r>
                        <a:rPr sz="1350" b="0">
                          <a:solidFill>
                            <a:srgbClr val="000000"/>
                          </a:solidFill>
                          <a:latin typeface="Arial"/>
                          <a:ea typeface="Arial"/>
                          <a:cs typeface="Arial"/>
                        </a:rPr>
                        <a:t>71</a:t>
                      </a:r>
                    </a:p>
                  </a:txBody>
                  <a:tcPr marL="95250" marR="95250" marT="0" marB="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65058C1E-A4FB-43BA-A571-2DAECCA75612}"/>
              </a:ext>
            </a:extLst>
          </p:cNvPr>
          <p:cNvSpPr>
            <a:spLocks xmlns:a="http://schemas.openxmlformats.org/drawingml/2006/main" noGrp="1"/>
          </p:cNvSpPr>
          <p:nvPr/>
        </p:nvSpPr>
        <p:spPr>
          <a:xfrm xmlns:a="http://schemas.openxmlformats.org/drawingml/2006/main">
            <a:off x="609600" y="61055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000000"/>
                </a:solidFill>
                <a:latin typeface="Arial"/>
                <a:ea typeface="Arial"/>
                <a:cs typeface="Arial"/>
              </a:defRPr>
            </a:pPr>
            <a:r>
              <a:rPr sz="1350" b="0">
                <a:solidFill>
                  <a:srgbClr val="000000"/>
                </a:solidFill>
                <a:latin typeface="Arial"/>
                <a:ea typeface="Arial"/>
                <a:cs typeface="Arial"/>
              </a:rPr>
              <a:t>Accuracy is overall. Precision, recall and F1 refer to HFrEF.</a:t>
            </a:r>
          </a:p>
          <a:p xmlns:a="http://schemas.openxmlformats.org/drawingml/2006/main">
            <a:pPr>
              <a:defRPr sz="1350" b="0">
                <a:solidFill>
                  <a:srgbClr val="000000"/>
                </a:solidFill>
                <a:latin typeface="Arial"/>
                <a:ea typeface="Arial"/>
                <a:cs typeface="Arial"/>
              </a:defRPr>
            </a:pPr>
            <a:r>
              <a:rPr sz="1350" b="0">
                <a:solidFill>
                  <a:srgbClr val="000000"/>
                </a:solidFill>
                <a:latin typeface="Arial"/>
                <a:ea typeface="Arial"/>
                <a:cs typeface="Arial"/>
              </a:rPr>
              <a:t>*Saved test run still used segments. Validation: 400 recordings. This was not a matched test setup.</a:t>
            </a:r>
          </a:p>
        </p:txBody>
      </p:sp>
    </p:spTree>
    <p:extLst>
      <p:ext uri="{BB962C8B-B14F-4D97-AF65-F5344CB8AC3E}">
        <p14:creationId xmlns:p14="http://schemas.microsoft.com/office/powerpoint/2010/main" val="40599699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92F08A2-4308-4AB3-8D35-EDC2CA6A42F0}"/>
              </a:ext>
            </a:extLst>
          </p:cNvPr>
          <p:cNvSpPr>
            <a:spLocks xmlns:a="http://schemas.openxmlformats.org/drawingml/2006/main" noGrp="1"/>
          </p:cNvSpPr>
          <p:nvPr/>
        </p:nvSpPr>
        <p:spPr>
          <a:xfrm xmlns:a="http://schemas.openxmlformats.org/drawingml/2006/main">
            <a:off x="609600" y="40957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000000"/>
                </a:solidFill>
                <a:latin typeface="Arial"/>
                <a:ea typeface="Arial"/>
                <a:cs typeface="Arial"/>
              </a:defRPr>
            </a:pPr>
            <a:r>
              <a:rPr sz="3150" b="1">
                <a:solidFill>
                  <a:srgbClr val="000000"/>
                </a:solidFill>
                <a:latin typeface="Arial"/>
                <a:ea typeface="Arial"/>
                <a:cs typeface="Arial"/>
              </a:rPr>
              <a:t>3. Grouping the four channels made the big difference</a:t>
            </a:r>
          </a:p>
        </p:txBody>
      </p:sp>
      <p:sp>
        <p:nvSpPr>
          <p:cNvPr id="2" name="">
            <a:extLst xmlns:a="http://schemas.openxmlformats.org/drawingml/2006/main">
              <a:ext uri="{FF2B5EF4-FFF2-40B4-BE49-F238E27FC236}">
                <a16:creationId xmlns:a16="http://schemas.microsoft.com/office/drawing/2014/main" id="{104F2B33-CB56-461D-A4A2-225D261AEE33}"/>
              </a:ext>
            </a:extLst>
          </p:cNvPr>
          <p:cNvSpPr>
            <a:spLocks xmlns:a="http://schemas.openxmlformats.org/drawingml/2006/main" noGrp="1"/>
          </p:cNvSpPr>
          <p:nvPr/>
        </p:nvSpPr>
        <p:spPr>
          <a:xfrm xmlns:a="http://schemas.openxmlformats.org/drawingml/2006/main">
            <a:off x="609600" y="109537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000000"/>
                </a:solidFill>
                <a:latin typeface="Arial"/>
                <a:ea typeface="Arial"/>
                <a:cs typeface="Arial"/>
              </a:defRPr>
            </a:pPr>
            <a:r>
              <a:rPr sz="1875" b="0">
                <a:solidFill>
                  <a:srgbClr val="000000"/>
                </a:solidFill>
                <a:latin typeface="Arial"/>
                <a:ea typeface="Arial"/>
                <a:cs typeface="Arial"/>
              </a:rPr>
              <a:t>One patient now gives one input: APEX, LLSB, LUSB and RUSB, each with 30 seconds.</a:t>
            </a:r>
          </a:p>
        </p:txBody>
      </p:sp>
      <p:graphicFrame>
        <p:nvGraphicFramePr>
          <p:cNvPr id="10" name=""/>
          <p:cNvGraphicFramePr/>
          <p:nvPr/>
        </p:nvGraphicFramePr>
        <p:xfrm>
          <a:off xmlns:a="http://schemas.openxmlformats.org/drawingml/2006/main" x="609600" y="1905000"/>
          <a:ext xmlns:a="http://schemas.openxmlformats.org/drawingml/2006/main" cx="10972800" cy="1571625"/>
        </p:xfrm>
        <a:graphic xmlns:a="http://schemas.openxmlformats.org/drawingml/2006/main">
          <a:graphicData uri="http://schemas.openxmlformats.org/drawingml/2006/table">
            <a:tbl>
              <a:tblPr firstRow="0" firstCol="0" bandRow="0"/>
              <a:tblGrid>
                <a:gridCol w="2495550"/>
                <a:gridCol w="1695450"/>
                <a:gridCol w="1695450"/>
                <a:gridCol w="1695450"/>
                <a:gridCol w="1695450"/>
                <a:gridCol w="1695450"/>
              </a:tblGrid>
              <a:tr h="523875">
                <a:tc>
                  <a:txBody>
                    <a:bodyPr>
                      <a:noAutofit/>
                    </a:bodyPr>
                    <a:lstStyle/>
                    <a:p>
                      <a:pPr algn="l"/>
                      <a:r>
                        <a:rPr sz="1875" b="1">
                          <a:solidFill>
                            <a:srgbClr val="000000"/>
                          </a:solidFill>
                          <a:latin typeface="Arial"/>
                          <a:ea typeface="Arial"/>
                          <a:cs typeface="Arial"/>
                        </a:rPr>
                        <a:t>Results</a:t>
                      </a:r>
                    </a:p>
                  </a:txBody>
                  <a:tcPr marL="95250" marR="95250" marT="0" marB="0">
                    <a:solidFill>
                      <a:srgbClr val="FFFFFF"/>
                    </a:solidFill>
                  </a:tcPr>
                </a:tc>
                <a:tc>
                  <a:txBody>
                    <a:bodyPr>
                      <a:noAutofit/>
                    </a:bodyPr>
                    <a:lstStyle/>
                    <a:p>
                      <a:pPr algn="ctr"/>
                      <a:r>
                        <a:rPr sz="1875" b="1">
                          <a:solidFill>
                            <a:srgbClr val="000000"/>
                          </a:solidFill>
                          <a:latin typeface="Arial"/>
                          <a:ea typeface="Arial"/>
                          <a:cs typeface="Arial"/>
                        </a:rPr>
                        <a:t>AUROC</a:t>
                      </a:r>
                    </a:p>
                  </a:txBody>
                  <a:tcPr marL="95250" marR="95250" marT="0" marB="0">
                    <a:solidFill>
                      <a:srgbClr val="FFFFFF"/>
                    </a:solidFill>
                  </a:tcPr>
                </a:tc>
                <a:tc>
                  <a:txBody>
                    <a:bodyPr>
                      <a:noAutofit/>
                    </a:bodyPr>
                    <a:lstStyle/>
                    <a:p>
                      <a:pPr algn="ctr"/>
                      <a:r>
                        <a:rPr sz="1875" b="1">
                          <a:solidFill>
                            <a:srgbClr val="000000"/>
                          </a:solidFill>
                          <a:latin typeface="Arial"/>
                          <a:ea typeface="Arial"/>
                          <a:cs typeface="Arial"/>
                        </a:rPr>
                        <a:t>Accuracy</a:t>
                      </a:r>
                    </a:p>
                  </a:txBody>
                  <a:tcPr marL="95250" marR="95250" marT="0" marB="0">
                    <a:solidFill>
                      <a:srgbClr val="FFFFFF"/>
                    </a:solidFill>
                  </a:tcPr>
                </a:tc>
                <a:tc>
                  <a:txBody>
                    <a:bodyPr>
                      <a:noAutofit/>
                    </a:bodyPr>
                    <a:lstStyle/>
                    <a:p>
                      <a:pPr algn="ctr"/>
                      <a:r>
                        <a:rPr sz="1875" b="1">
                          <a:solidFill>
                            <a:srgbClr val="000000"/>
                          </a:solidFill>
                          <a:latin typeface="Arial"/>
                          <a:ea typeface="Arial"/>
                          <a:cs typeface="Arial"/>
                        </a:rPr>
                        <a:t>Precision</a:t>
                      </a:r>
                    </a:p>
                  </a:txBody>
                  <a:tcPr marL="95250" marR="95250" marT="0" marB="0">
                    <a:solidFill>
                      <a:srgbClr val="FFFFFF"/>
                    </a:solidFill>
                  </a:tcPr>
                </a:tc>
                <a:tc>
                  <a:txBody>
                    <a:bodyPr>
                      <a:noAutofit/>
                    </a:bodyPr>
                    <a:lstStyle/>
                    <a:p>
                      <a:pPr algn="ctr"/>
                      <a:r>
                        <a:rPr sz="1875" b="1">
                          <a:solidFill>
                            <a:srgbClr val="000000"/>
                          </a:solidFill>
                          <a:latin typeface="Arial"/>
                          <a:ea typeface="Arial"/>
                          <a:cs typeface="Arial"/>
                        </a:rPr>
                        <a:t>Recall</a:t>
                      </a:r>
                    </a:p>
                  </a:txBody>
                  <a:tcPr marL="95250" marR="95250" marT="0" marB="0">
                    <a:solidFill>
                      <a:srgbClr val="FFFFFF"/>
                    </a:solidFill>
                  </a:tcPr>
                </a:tc>
                <a:tc>
                  <a:txBody>
                    <a:bodyPr>
                      <a:noAutofit/>
                    </a:bodyPr>
                    <a:lstStyle/>
                    <a:p>
                      <a:pPr algn="ctr"/>
                      <a:r>
                        <a:rPr sz="1875" b="1">
                          <a:solidFill>
                            <a:srgbClr val="000000"/>
                          </a:solidFill>
                          <a:latin typeface="Arial"/>
                          <a:ea typeface="Arial"/>
                          <a:cs typeface="Arial"/>
                        </a:rPr>
                        <a:t>F1</a:t>
                      </a:r>
                    </a:p>
                  </a:txBody>
                  <a:tcPr marL="95250" marR="95250" marT="0" marB="0">
                    <a:solidFill>
                      <a:srgbClr val="FFFFFF"/>
                    </a:solidFill>
                  </a:tcPr>
                </a:tc>
              </a:tr>
              <a:tr h="523875">
                <a:tc>
                  <a:txBody>
                    <a:bodyPr>
                      <a:noAutofit/>
                    </a:bodyPr>
                    <a:lstStyle/>
                    <a:p>
                      <a:pPr algn="l"/>
                      <a:r>
                        <a:rPr sz="1875" b="0">
                          <a:solidFill>
                            <a:srgbClr val="000000"/>
                          </a:solidFill>
                          <a:latin typeface="Arial"/>
                          <a:ea typeface="Arial"/>
                          <a:cs typeface="Arial"/>
                        </a:rPr>
                        <a:t>Validation</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0.9564</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91.0%</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57.9%</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91.7%</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71.0%</a:t>
                      </a:r>
                    </a:p>
                  </a:txBody>
                  <a:tcPr marL="95250" marR="95250" marT="0" marB="0">
                    <a:solidFill>
                      <a:srgbClr val="FFFFFF"/>
                    </a:solidFill>
                  </a:tcPr>
                </a:tc>
              </a:tr>
              <a:tr h="523875">
                <a:tc>
                  <a:txBody>
                    <a:bodyPr>
                      <a:noAutofit/>
                    </a:bodyPr>
                    <a:lstStyle/>
                    <a:p>
                      <a:pPr algn="l"/>
                      <a:r>
                        <a:rPr sz="1875" b="0">
                          <a:solidFill>
                            <a:srgbClr val="000000"/>
                          </a:solidFill>
                          <a:latin typeface="Arial"/>
                          <a:ea typeface="Arial"/>
                          <a:cs typeface="Arial"/>
                        </a:rPr>
                        <a:t>Test</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0.9983</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96.7%</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55.6%</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100.0%</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71.4%</a:t>
                      </a:r>
                    </a:p>
                  </a:txBody>
                  <a:tcPr marL="95250" marR="95250" marT="0" marB="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B73E9CA-AE71-40E8-8DC3-CCCCBD9A638C}"/>
              </a:ext>
            </a:extLst>
          </p:cNvPr>
          <p:cNvSpPr>
            <a:spLocks xmlns:a="http://schemas.openxmlformats.org/drawingml/2006/main" noGrp="1"/>
          </p:cNvSpPr>
          <p:nvPr/>
        </p:nvSpPr>
        <p:spPr>
          <a:xfrm xmlns:a="http://schemas.openxmlformats.org/drawingml/2006/main">
            <a:off x="609600" y="3762375"/>
            <a:ext cx="661035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000000"/>
                </a:solidFill>
                <a:latin typeface="Arial"/>
                <a:ea typeface="Arial"/>
                <a:cs typeface="Arial"/>
              </a:defRPr>
            </a:pPr>
            <a:r>
              <a:rPr sz="2025" b="0">
                <a:solidFill>
                  <a:srgbClr val="000000"/>
                </a:solidFill>
                <a:latin typeface="Arial"/>
                <a:ea typeface="Arial"/>
                <a:cs typeface="Arial"/>
              </a:rPr>
              <a:t>The CNN now takes four channels together.</a:t>
            </a:r>
          </a:p>
          <a:p xmlns:a="http://schemas.openxmlformats.org/drawingml/2006/main">
            <a:pPr>
              <a:defRPr sz="2025" b="0">
                <a:solidFill>
                  <a:srgbClr val="000000"/>
                </a:solidFill>
                <a:latin typeface="Arial"/>
                <a:ea typeface="Arial"/>
                <a:cs typeface="Arial"/>
              </a:defRPr>
            </a:pPr>
            <a:r>
              <a:rPr sz="2025" b="0">
                <a:solidFill>
                  <a:srgbClr val="000000"/>
                </a:solidFill>
                <a:latin typeface="Arial"/>
                <a:ea typeface="Arial"/>
                <a:cs typeface="Arial"/>
              </a:rPr>
              <a:t>Deeper residual blocks learn richer features.</a:t>
            </a:r>
          </a:p>
          <a:p xmlns:a="http://schemas.openxmlformats.org/drawingml/2006/main">
            <a:r>
              <a:t/>
            </a:r>
          </a:p>
          <a:p xmlns:a="http://schemas.openxmlformats.org/drawingml/2006/main">
            <a:pPr>
              <a:defRPr sz="2025" b="0">
                <a:solidFill>
                  <a:srgbClr val="000000"/>
                </a:solidFill>
                <a:latin typeface="Arial"/>
                <a:ea typeface="Arial"/>
                <a:cs typeface="Arial"/>
              </a:defRPr>
            </a:pPr>
            <a:r>
              <a:rPr sz="2025" b="0">
                <a:solidFill>
                  <a:srgbClr val="000000"/>
                </a:solidFill>
                <a:latin typeface="Arial"/>
                <a:ea typeface="Arial"/>
                <a:cs typeface="Arial"/>
              </a:rPr>
              <a:t>The model can combine information from</a:t>
            </a:r>
          </a:p>
          <a:p xmlns:a="http://schemas.openxmlformats.org/drawingml/2006/main">
            <a:pPr>
              <a:defRPr sz="2025" b="0">
                <a:solidFill>
                  <a:srgbClr val="000000"/>
                </a:solidFill>
                <a:latin typeface="Arial"/>
                <a:ea typeface="Arial"/>
                <a:cs typeface="Arial"/>
              </a:defRPr>
            </a:pPr>
            <a:r>
              <a:rPr sz="2025" b="0">
                <a:solidFill>
                  <a:srgbClr val="000000"/>
                </a:solidFill>
                <a:latin typeface="Arial"/>
                <a:ea typeface="Arial"/>
                <a:cs typeface="Arial"/>
              </a:rPr>
              <a:t>the same patient across the four sites.</a:t>
            </a:r>
          </a:p>
        </p:txBody>
      </p:sp>
      <p:sp>
        <p:nvSpPr>
          <p:cNvPr id="5" name="">
            <a:extLst xmlns:a="http://schemas.openxmlformats.org/drawingml/2006/main">
              <a:ext uri="{FF2B5EF4-FFF2-40B4-BE49-F238E27FC236}">
                <a16:creationId xmlns:a16="http://schemas.microsoft.com/office/drawing/2014/main" id="{DEDD61DB-09EB-463B-96CE-4974C574DEF5}"/>
              </a:ext>
            </a:extLst>
          </p:cNvPr>
          <p:cNvSpPr>
            <a:spLocks xmlns:a="http://schemas.openxmlformats.org/drawingml/2006/main" noGrp="1"/>
          </p:cNvSpPr>
          <p:nvPr/>
        </p:nvSpPr>
        <p:spPr>
          <a:xfrm xmlns:a="http://schemas.openxmlformats.org/drawingml/2006/main">
            <a:off x="7381875" y="3762375"/>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000000"/>
                </a:solidFill>
                <a:latin typeface="Arial"/>
                <a:ea typeface="Arial"/>
                <a:cs typeface="Arial"/>
              </a:defRPr>
            </a:pPr>
            <a:r>
              <a:rPr sz="1725" b="1">
                <a:solidFill>
                  <a:srgbClr val="000000"/>
                </a:solidFill>
                <a:latin typeface="Arial"/>
                <a:ea typeface="Arial"/>
                <a:cs typeface="Arial"/>
              </a:rPr>
              <a:t>Test confusion matrix</a:t>
            </a:r>
          </a:p>
        </p:txBody>
      </p:sp>
      <p:graphicFrame>
        <p:nvGraphicFramePr>
          <p:cNvPr id="13" name=""/>
          <p:cNvGraphicFramePr/>
          <p:nvPr/>
        </p:nvGraphicFramePr>
        <p:xfrm>
          <a:off xmlns:a="http://schemas.openxmlformats.org/drawingml/2006/main" x="7381875" y="4181475"/>
          <a:ext xmlns:a="http://schemas.openxmlformats.org/drawingml/2006/main" cx="4191000" cy="1457325"/>
        </p:xfrm>
        <a:graphic xmlns:a="http://schemas.openxmlformats.org/drawingml/2006/main">
          <a:graphicData uri="http://schemas.openxmlformats.org/drawingml/2006/table">
            <a:tbl>
              <a:tblPr firstRow="0" firstCol="0" bandRow="0"/>
              <a:tblGrid>
                <a:gridCol w="1809750"/>
                <a:gridCol w="1428750"/>
                <a:gridCol w="952500"/>
              </a:tblGrid>
              <a:tr h="485775">
                <a:tc>
                  <a:txBody>
                    <a:bodyPr>
                      <a:noAutofit/>
                    </a:bodyPr>
                    <a:lstStyle/>
                    <a:p>
                      <a:pPr algn="l"/>
                      <a:r>
                        <a:rPr sz="1350" b="1">
                          <a:solidFill>
                            <a:srgbClr val="000000"/>
                          </a:solidFill>
                          <a:latin typeface="Arial"/>
                          <a:ea typeface="Arial"/>
                          <a:cs typeface="Arial"/>
                        </a:rPr>
                        <a:t>Actual / predicted</a:t>
                      </a:r>
                    </a:p>
                  </a:txBody>
                  <a:tcPr marL="95250" marR="95250" marT="0" marB="0">
                    <a:solidFill>
                      <a:srgbClr val="FFFFFF"/>
                    </a:solidFill>
                  </a:tcPr>
                </a:tc>
                <a:tc>
                  <a:txBody>
                    <a:bodyPr>
                      <a:noAutofit/>
                    </a:bodyPr>
                    <a:lstStyle/>
                    <a:p>
                      <a:pPr algn="ctr"/>
                      <a:r>
                        <a:rPr sz="1350" b="1">
                          <a:solidFill>
                            <a:srgbClr val="000000"/>
                          </a:solidFill>
                          <a:latin typeface="Arial"/>
                          <a:ea typeface="Arial"/>
                          <a:cs typeface="Arial"/>
                        </a:rPr>
                        <a:t>Non-HFrEF</a:t>
                      </a:r>
                    </a:p>
                  </a:txBody>
                  <a:tcPr marL="95250" marR="95250" marT="0" marB="0">
                    <a:solidFill>
                      <a:srgbClr val="FFFFFF"/>
                    </a:solidFill>
                  </a:tcPr>
                </a:tc>
                <a:tc>
                  <a:txBody>
                    <a:bodyPr>
                      <a:noAutofit/>
                    </a:bodyPr>
                    <a:lstStyle/>
                    <a:p>
                      <a:pPr algn="ctr"/>
                      <a:r>
                        <a:rPr sz="1350" b="1">
                          <a:solidFill>
                            <a:srgbClr val="000000"/>
                          </a:solidFill>
                          <a:latin typeface="Arial"/>
                          <a:ea typeface="Arial"/>
                          <a:cs typeface="Arial"/>
                        </a:rPr>
                        <a:t>HFrEF</a:t>
                      </a:r>
                    </a:p>
                  </a:txBody>
                  <a:tcPr marL="95250" marR="95250" marT="0" marB="0">
                    <a:solidFill>
                      <a:srgbClr val="FFFFFF"/>
                    </a:solidFill>
                  </a:tcPr>
                </a:tc>
              </a:tr>
              <a:tr h="485775">
                <a:tc>
                  <a:txBody>
                    <a:bodyPr>
                      <a:noAutofit/>
                    </a:bodyPr>
                    <a:lstStyle/>
                    <a:p>
                      <a:pPr algn="l"/>
                      <a:r>
                        <a:rPr sz="1350" b="0">
                          <a:solidFill>
                            <a:srgbClr val="000000"/>
                          </a:solidFill>
                          <a:latin typeface="Arial"/>
                          <a:ea typeface="Arial"/>
                          <a:cs typeface="Arial"/>
                        </a:rPr>
                        <a:t>Non-HFrEF</a:t>
                      </a:r>
                    </a:p>
                  </a:txBody>
                  <a:tcPr marL="95250" marR="95250" marT="0" marB="0">
                    <a:solidFill>
                      <a:srgbClr val="FFFFFF"/>
                    </a:solidFill>
                  </a:tcPr>
                </a:tc>
                <a:tc>
                  <a:txBody>
                    <a:bodyPr>
                      <a:noAutofit/>
                    </a:bodyPr>
                    <a:lstStyle/>
                    <a:p>
                      <a:pPr algn="ctr"/>
                      <a:r>
                        <a:rPr sz="1350" b="0">
                          <a:solidFill>
                            <a:srgbClr val="000000"/>
                          </a:solidFill>
                          <a:latin typeface="Arial"/>
                          <a:ea typeface="Arial"/>
                          <a:cs typeface="Arial"/>
                        </a:rPr>
                        <a:t>111</a:t>
                      </a:r>
                    </a:p>
                  </a:txBody>
                  <a:tcPr marL="95250" marR="95250" marT="0" marB="0">
                    <a:solidFill>
                      <a:srgbClr val="FFFFFF"/>
                    </a:solidFill>
                  </a:tcPr>
                </a:tc>
                <a:tc>
                  <a:txBody>
                    <a:bodyPr>
                      <a:noAutofit/>
                    </a:bodyPr>
                    <a:lstStyle/>
                    <a:p>
                      <a:pPr algn="ctr"/>
                      <a:r>
                        <a:rPr sz="1350" b="0">
                          <a:solidFill>
                            <a:srgbClr val="000000"/>
                          </a:solidFill>
                          <a:latin typeface="Arial"/>
                          <a:ea typeface="Arial"/>
                          <a:cs typeface="Arial"/>
                        </a:rPr>
                        <a:t>4</a:t>
                      </a:r>
                    </a:p>
                  </a:txBody>
                  <a:tcPr marL="95250" marR="95250" marT="0" marB="0">
                    <a:solidFill>
                      <a:srgbClr val="FFFFFF"/>
                    </a:solidFill>
                  </a:tcPr>
                </a:tc>
              </a:tr>
              <a:tr h="485775">
                <a:tc>
                  <a:txBody>
                    <a:bodyPr>
                      <a:noAutofit/>
                    </a:bodyPr>
                    <a:lstStyle/>
                    <a:p>
                      <a:pPr algn="l"/>
                      <a:r>
                        <a:rPr sz="1350" b="0">
                          <a:solidFill>
                            <a:srgbClr val="000000"/>
                          </a:solidFill>
                          <a:latin typeface="Arial"/>
                          <a:ea typeface="Arial"/>
                          <a:cs typeface="Arial"/>
                        </a:rPr>
                        <a:t>HFrEF</a:t>
                      </a:r>
                    </a:p>
                  </a:txBody>
                  <a:tcPr marL="95250" marR="95250" marT="0" marB="0">
                    <a:solidFill>
                      <a:srgbClr val="FFFFFF"/>
                    </a:solidFill>
                  </a:tcPr>
                </a:tc>
                <a:tc>
                  <a:txBody>
                    <a:bodyPr>
                      <a:noAutofit/>
                    </a:bodyPr>
                    <a:lstStyle/>
                    <a:p>
                      <a:pPr algn="ctr"/>
                      <a:r>
                        <a:rPr sz="1350" b="0">
                          <a:solidFill>
                            <a:srgbClr val="000000"/>
                          </a:solidFill>
                          <a:latin typeface="Arial"/>
                          <a:ea typeface="Arial"/>
                          <a:cs typeface="Arial"/>
                        </a:rPr>
                        <a:t>0</a:t>
                      </a:r>
                    </a:p>
                  </a:txBody>
                  <a:tcPr marL="95250" marR="95250" marT="0" marB="0">
                    <a:solidFill>
                      <a:srgbClr val="FFFFFF"/>
                    </a:solidFill>
                  </a:tcPr>
                </a:tc>
                <a:tc>
                  <a:txBody>
                    <a:bodyPr>
                      <a:noAutofit/>
                    </a:bodyPr>
                    <a:lstStyle/>
                    <a:p>
                      <a:pPr algn="ctr"/>
                      <a:r>
                        <a:rPr sz="1350" b="0">
                          <a:solidFill>
                            <a:srgbClr val="000000"/>
                          </a:solidFill>
                          <a:latin typeface="Arial"/>
                          <a:ea typeface="Arial"/>
                          <a:cs typeface="Arial"/>
                        </a:rPr>
                        <a:t>5</a:t>
                      </a:r>
                    </a:p>
                  </a:txBody>
                  <a:tcPr marL="95250" marR="95250" marT="0" marB="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32E524DE-20D9-4445-B1EF-95D8DFB3D3A8}"/>
              </a:ext>
            </a:extLst>
          </p:cNvPr>
          <p:cNvSpPr>
            <a:spLocks xmlns:a="http://schemas.openxmlformats.org/drawingml/2006/main" noGrp="1"/>
          </p:cNvSpPr>
          <p:nvPr/>
        </p:nvSpPr>
        <p:spPr>
          <a:xfrm xmlns:a="http://schemas.openxmlformats.org/drawingml/2006/main">
            <a:off x="609600" y="61055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000000"/>
                </a:solidFill>
                <a:latin typeface="Arial"/>
                <a:ea typeface="Arial"/>
                <a:cs typeface="Arial"/>
              </a:defRPr>
            </a:pPr>
            <a:r>
              <a:rPr sz="1350" b="0">
                <a:solidFill>
                  <a:srgbClr val="000000"/>
                </a:solidFill>
                <a:latin typeface="Arial"/>
                <a:ea typeface="Arial"/>
                <a:cs typeface="Arial"/>
              </a:rPr>
              <a:t>Accuracy is overall. Precision, recall and F1 refer to HFrEF.</a:t>
            </a:r>
          </a:p>
          <a:p xmlns:a="http://schemas.openxmlformats.org/drawingml/2006/main">
            <a:pPr>
              <a:defRPr sz="1350" b="0">
                <a:solidFill>
                  <a:srgbClr val="000000"/>
                </a:solidFill>
                <a:latin typeface="Arial"/>
                <a:ea typeface="Arial"/>
                <a:cs typeface="Arial"/>
              </a:defRPr>
            </a:pPr>
            <a:r>
              <a:rPr sz="1350" b="0">
                <a:solidFill>
                  <a:srgbClr val="000000"/>
                </a:solidFill>
                <a:latin typeface="Arial"/>
                <a:ea typeface="Arial"/>
                <a:cs typeface="Arial"/>
              </a:rPr>
              <a:t>100 validation and 120 test patients. Grouping, CNN and split changed together; their effects are not isolated.</a:t>
            </a:r>
          </a:p>
        </p:txBody>
      </p:sp>
    </p:spTree>
    <p:extLst>
      <p:ext uri="{BB962C8B-B14F-4D97-AF65-F5344CB8AC3E}">
        <p14:creationId xmlns:p14="http://schemas.microsoft.com/office/powerpoint/2010/main" val="29495843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52D0F7B-CADF-4CB9-B15B-96C02809A876}"/>
              </a:ext>
            </a:extLst>
          </p:cNvPr>
          <p:cNvSpPr>
            <a:spLocks xmlns:a="http://schemas.openxmlformats.org/drawingml/2006/main" noGrp="1"/>
          </p:cNvSpPr>
          <p:nvPr/>
        </p:nvSpPr>
        <p:spPr>
          <a:xfrm xmlns:a="http://schemas.openxmlformats.org/drawingml/2006/main">
            <a:off x="609600" y="40957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000000"/>
                </a:solidFill>
                <a:latin typeface="Arial"/>
                <a:ea typeface="Arial"/>
                <a:cs typeface="Arial"/>
              </a:defRPr>
            </a:pPr>
            <a:r>
              <a:rPr sz="3150" b="1">
                <a:solidFill>
                  <a:srgbClr val="000000"/>
                </a:solidFill>
                <a:latin typeface="Arial"/>
                <a:ea typeface="Arial"/>
                <a:cs typeface="Arial"/>
              </a:rPr>
              <a:t>4. I trained another model using five seconds</a:t>
            </a:r>
          </a:p>
        </p:txBody>
      </p:sp>
      <p:sp>
        <p:nvSpPr>
          <p:cNvPr id="2" name="">
            <a:extLst xmlns:a="http://schemas.openxmlformats.org/drawingml/2006/main">
              <a:ext uri="{FF2B5EF4-FFF2-40B4-BE49-F238E27FC236}">
                <a16:creationId xmlns:a16="http://schemas.microsoft.com/office/drawing/2014/main" id="{8EA7314E-71A6-4BCB-8892-7766ED0DF562}"/>
              </a:ext>
            </a:extLst>
          </p:cNvPr>
          <p:cNvSpPr>
            <a:spLocks xmlns:a="http://schemas.openxmlformats.org/drawingml/2006/main" noGrp="1"/>
          </p:cNvSpPr>
          <p:nvPr/>
        </p:nvSpPr>
        <p:spPr>
          <a:xfrm xmlns:a="http://schemas.openxmlformats.org/drawingml/2006/main">
            <a:off x="609600" y="109537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000000"/>
                </a:solidFill>
                <a:latin typeface="Arial"/>
                <a:ea typeface="Arial"/>
                <a:cs typeface="Arial"/>
              </a:defRPr>
            </a:pPr>
            <a:r>
              <a:rPr sz="1875" b="0">
                <a:solidFill>
                  <a:srgbClr val="000000"/>
                </a:solidFill>
                <a:latin typeface="Arial"/>
                <a:ea typeface="Arial"/>
                <a:cs typeface="Arial"/>
              </a:rPr>
              <a:t>The four channels stay together. A fresh model learns from six windows per training patient.</a:t>
            </a:r>
          </a:p>
        </p:txBody>
      </p:sp>
      <p:graphicFrame>
        <p:nvGraphicFramePr>
          <p:cNvPr id="10" name=""/>
          <p:cNvGraphicFramePr/>
          <p:nvPr/>
        </p:nvGraphicFramePr>
        <p:xfrm>
          <a:off xmlns:a="http://schemas.openxmlformats.org/drawingml/2006/main" x="609600" y="1905000"/>
          <a:ext xmlns:a="http://schemas.openxmlformats.org/drawingml/2006/main" cx="10972800" cy="1571625"/>
        </p:xfrm>
        <a:graphic xmlns:a="http://schemas.openxmlformats.org/drawingml/2006/main">
          <a:graphicData uri="http://schemas.openxmlformats.org/drawingml/2006/table">
            <a:tbl>
              <a:tblPr firstRow="0" firstCol="0" bandRow="0"/>
              <a:tblGrid>
                <a:gridCol w="2495550"/>
                <a:gridCol w="1695450"/>
                <a:gridCol w="1695450"/>
                <a:gridCol w="1695450"/>
                <a:gridCol w="1695450"/>
                <a:gridCol w="1695450"/>
              </a:tblGrid>
              <a:tr h="523875">
                <a:tc>
                  <a:txBody>
                    <a:bodyPr>
                      <a:noAutofit/>
                    </a:bodyPr>
                    <a:lstStyle/>
                    <a:p>
                      <a:pPr algn="l"/>
                      <a:r>
                        <a:rPr sz="1875" b="1">
                          <a:solidFill>
                            <a:srgbClr val="000000"/>
                          </a:solidFill>
                          <a:latin typeface="Arial"/>
                          <a:ea typeface="Arial"/>
                          <a:cs typeface="Arial"/>
                        </a:rPr>
                        <a:t>Results</a:t>
                      </a:r>
                    </a:p>
                  </a:txBody>
                  <a:tcPr marL="95250" marR="95250" marT="0" marB="0">
                    <a:solidFill>
                      <a:srgbClr val="FFFFFF"/>
                    </a:solidFill>
                  </a:tcPr>
                </a:tc>
                <a:tc>
                  <a:txBody>
                    <a:bodyPr>
                      <a:noAutofit/>
                    </a:bodyPr>
                    <a:lstStyle/>
                    <a:p>
                      <a:pPr algn="ctr"/>
                      <a:r>
                        <a:rPr sz="1875" b="1">
                          <a:solidFill>
                            <a:srgbClr val="000000"/>
                          </a:solidFill>
                          <a:latin typeface="Arial"/>
                          <a:ea typeface="Arial"/>
                          <a:cs typeface="Arial"/>
                        </a:rPr>
                        <a:t>AUROC</a:t>
                      </a:r>
                    </a:p>
                  </a:txBody>
                  <a:tcPr marL="95250" marR="95250" marT="0" marB="0">
                    <a:solidFill>
                      <a:srgbClr val="FFFFFF"/>
                    </a:solidFill>
                  </a:tcPr>
                </a:tc>
                <a:tc>
                  <a:txBody>
                    <a:bodyPr>
                      <a:noAutofit/>
                    </a:bodyPr>
                    <a:lstStyle/>
                    <a:p>
                      <a:pPr algn="ctr"/>
                      <a:r>
                        <a:rPr sz="1875" b="1">
                          <a:solidFill>
                            <a:srgbClr val="000000"/>
                          </a:solidFill>
                          <a:latin typeface="Arial"/>
                          <a:ea typeface="Arial"/>
                          <a:cs typeface="Arial"/>
                        </a:rPr>
                        <a:t>Accuracy</a:t>
                      </a:r>
                    </a:p>
                  </a:txBody>
                  <a:tcPr marL="95250" marR="95250" marT="0" marB="0">
                    <a:solidFill>
                      <a:srgbClr val="FFFFFF"/>
                    </a:solidFill>
                  </a:tcPr>
                </a:tc>
                <a:tc>
                  <a:txBody>
                    <a:bodyPr>
                      <a:noAutofit/>
                    </a:bodyPr>
                    <a:lstStyle/>
                    <a:p>
                      <a:pPr algn="ctr"/>
                      <a:r>
                        <a:rPr sz="1875" b="1">
                          <a:solidFill>
                            <a:srgbClr val="000000"/>
                          </a:solidFill>
                          <a:latin typeface="Arial"/>
                          <a:ea typeface="Arial"/>
                          <a:cs typeface="Arial"/>
                        </a:rPr>
                        <a:t>Precision</a:t>
                      </a:r>
                    </a:p>
                  </a:txBody>
                  <a:tcPr marL="95250" marR="95250" marT="0" marB="0">
                    <a:solidFill>
                      <a:srgbClr val="FFFFFF"/>
                    </a:solidFill>
                  </a:tcPr>
                </a:tc>
                <a:tc>
                  <a:txBody>
                    <a:bodyPr>
                      <a:noAutofit/>
                    </a:bodyPr>
                    <a:lstStyle/>
                    <a:p>
                      <a:pPr algn="ctr"/>
                      <a:r>
                        <a:rPr sz="1875" b="1">
                          <a:solidFill>
                            <a:srgbClr val="000000"/>
                          </a:solidFill>
                          <a:latin typeface="Arial"/>
                          <a:ea typeface="Arial"/>
                          <a:cs typeface="Arial"/>
                        </a:rPr>
                        <a:t>Recall</a:t>
                      </a:r>
                    </a:p>
                  </a:txBody>
                  <a:tcPr marL="95250" marR="95250" marT="0" marB="0">
                    <a:solidFill>
                      <a:srgbClr val="FFFFFF"/>
                    </a:solidFill>
                  </a:tcPr>
                </a:tc>
                <a:tc>
                  <a:txBody>
                    <a:bodyPr>
                      <a:noAutofit/>
                    </a:bodyPr>
                    <a:lstStyle/>
                    <a:p>
                      <a:pPr algn="ctr"/>
                      <a:r>
                        <a:rPr sz="1875" b="1">
                          <a:solidFill>
                            <a:srgbClr val="000000"/>
                          </a:solidFill>
                          <a:latin typeface="Arial"/>
                          <a:ea typeface="Arial"/>
                          <a:cs typeface="Arial"/>
                        </a:rPr>
                        <a:t>F1</a:t>
                      </a:r>
                    </a:p>
                  </a:txBody>
                  <a:tcPr marL="95250" marR="95250" marT="0" marB="0">
                    <a:solidFill>
                      <a:srgbClr val="FFFFFF"/>
                    </a:solidFill>
                  </a:tcPr>
                </a:tc>
              </a:tr>
              <a:tr h="523875">
                <a:tc>
                  <a:txBody>
                    <a:bodyPr>
                      <a:noAutofit/>
                    </a:bodyPr>
                    <a:lstStyle/>
                    <a:p>
                      <a:pPr algn="l"/>
                      <a:r>
                        <a:rPr sz="1875" b="0">
                          <a:solidFill>
                            <a:srgbClr val="000000"/>
                          </a:solidFill>
                          <a:latin typeface="Arial"/>
                          <a:ea typeface="Arial"/>
                          <a:cs typeface="Arial"/>
                        </a:rPr>
                        <a:t>Validation</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0.8845</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87.0%</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47.6%</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83.3%</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60.6%</a:t>
                      </a:r>
                    </a:p>
                  </a:txBody>
                  <a:tcPr marL="95250" marR="95250" marT="0" marB="0">
                    <a:solidFill>
                      <a:srgbClr val="FFFFFF"/>
                    </a:solidFill>
                  </a:tcPr>
                </a:tc>
              </a:tr>
              <a:tr h="523875">
                <a:tc>
                  <a:txBody>
                    <a:bodyPr>
                      <a:noAutofit/>
                    </a:bodyPr>
                    <a:lstStyle/>
                    <a:p>
                      <a:pPr algn="l"/>
                      <a:r>
                        <a:rPr sz="1875" b="0">
                          <a:solidFill>
                            <a:srgbClr val="000000"/>
                          </a:solidFill>
                          <a:latin typeface="Arial"/>
                          <a:ea typeface="Arial"/>
                          <a:cs typeface="Arial"/>
                        </a:rPr>
                        <a:t>Test</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0.9200</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83.3%</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17.4%</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80.0%</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28.6%</a:t>
                      </a:r>
                    </a:p>
                  </a:txBody>
                  <a:tcPr marL="95250" marR="95250" marT="0" marB="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22B6757-43F5-418F-A3EE-E0D03E48BBE9}"/>
              </a:ext>
            </a:extLst>
          </p:cNvPr>
          <p:cNvSpPr>
            <a:spLocks xmlns:a="http://schemas.openxmlformats.org/drawingml/2006/main" noGrp="1"/>
          </p:cNvSpPr>
          <p:nvPr/>
        </p:nvSpPr>
        <p:spPr>
          <a:xfrm xmlns:a="http://schemas.openxmlformats.org/drawingml/2006/main">
            <a:off x="609600" y="3762375"/>
            <a:ext cx="6638925"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000000"/>
                </a:solidFill>
                <a:latin typeface="Arial"/>
                <a:ea typeface="Arial"/>
                <a:cs typeface="Arial"/>
              </a:defRPr>
            </a:pPr>
            <a:r>
              <a:rPr sz="2025" b="0">
                <a:solidFill>
                  <a:srgbClr val="000000"/>
                </a:solidFill>
                <a:latin typeface="Arial"/>
                <a:ea typeface="Arial"/>
                <a:cs typeface="Arial"/>
              </a:rPr>
              <a:t>These results use only the first five seconds.</a:t>
            </a:r>
          </a:p>
          <a:p xmlns:a="http://schemas.openxmlformats.org/drawingml/2006/main">
            <a:r>
              <a:t/>
            </a:r>
          </a:p>
          <a:p xmlns:a="http://schemas.openxmlformats.org/drawingml/2006/main">
            <a:pPr>
              <a:defRPr sz="2025" b="0">
                <a:solidFill>
                  <a:srgbClr val="000000"/>
                </a:solidFill>
                <a:latin typeface="Arial"/>
                <a:ea typeface="Arial"/>
                <a:cs typeface="Arial"/>
              </a:defRPr>
            </a:pPr>
            <a:r>
              <a:rPr sz="2025" b="0">
                <a:solidFill>
                  <a:srgbClr val="000000"/>
                </a:solidFill>
                <a:latin typeface="Arial"/>
                <a:ea typeface="Arial"/>
                <a:cs typeface="Arial"/>
              </a:rPr>
              <a:t>The model still finds useful information,</a:t>
            </a:r>
          </a:p>
          <a:p xmlns:a="http://schemas.openxmlformats.org/drawingml/2006/main">
            <a:pPr>
              <a:defRPr sz="2025" b="0">
                <a:solidFill>
                  <a:srgbClr val="000000"/>
                </a:solidFill>
                <a:latin typeface="Arial"/>
                <a:ea typeface="Arial"/>
                <a:cs typeface="Arial"/>
              </a:defRPr>
            </a:pPr>
            <a:r>
              <a:rPr sz="2025" b="0">
                <a:solidFill>
                  <a:srgbClr val="000000"/>
                </a:solidFill>
                <a:latin typeface="Arial"/>
                <a:ea typeface="Arial"/>
                <a:cs typeface="Arial"/>
              </a:rPr>
              <a:t>but false positives rise from 4 to 19</a:t>
            </a:r>
          </a:p>
          <a:p xmlns:a="http://schemas.openxmlformats.org/drawingml/2006/main">
            <a:pPr>
              <a:defRPr sz="2025" b="0">
                <a:solidFill>
                  <a:srgbClr val="000000"/>
                </a:solidFill>
                <a:latin typeface="Arial"/>
                <a:ea typeface="Arial"/>
                <a:cs typeface="Arial"/>
              </a:defRPr>
            </a:pPr>
            <a:r>
              <a:rPr sz="2025" b="0">
                <a:solidFill>
                  <a:srgbClr val="000000"/>
                </a:solidFill>
                <a:latin typeface="Arial"/>
                <a:ea typeface="Arial"/>
                <a:cs typeface="Arial"/>
              </a:rPr>
              <a:t>compared with the full 30-second model.</a:t>
            </a:r>
          </a:p>
        </p:txBody>
      </p:sp>
      <p:sp>
        <p:nvSpPr>
          <p:cNvPr id="5" name="">
            <a:extLst xmlns:a="http://schemas.openxmlformats.org/drawingml/2006/main">
              <a:ext uri="{FF2B5EF4-FFF2-40B4-BE49-F238E27FC236}">
                <a16:creationId xmlns:a16="http://schemas.microsoft.com/office/drawing/2014/main" id="{8C4B78EC-340B-4A82-A93E-838E96C6FB46}"/>
              </a:ext>
            </a:extLst>
          </p:cNvPr>
          <p:cNvSpPr>
            <a:spLocks xmlns:a="http://schemas.openxmlformats.org/drawingml/2006/main" noGrp="1"/>
          </p:cNvSpPr>
          <p:nvPr/>
        </p:nvSpPr>
        <p:spPr>
          <a:xfrm xmlns:a="http://schemas.openxmlformats.org/drawingml/2006/main">
            <a:off x="7381875" y="3762375"/>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000000"/>
                </a:solidFill>
                <a:latin typeface="Arial"/>
                <a:ea typeface="Arial"/>
                <a:cs typeface="Arial"/>
              </a:defRPr>
            </a:pPr>
            <a:r>
              <a:rPr sz="1725" b="1">
                <a:solidFill>
                  <a:srgbClr val="000000"/>
                </a:solidFill>
                <a:latin typeface="Arial"/>
                <a:ea typeface="Arial"/>
                <a:cs typeface="Arial"/>
              </a:rPr>
              <a:t>Test confusion matrix</a:t>
            </a:r>
          </a:p>
        </p:txBody>
      </p:sp>
      <p:graphicFrame>
        <p:nvGraphicFramePr>
          <p:cNvPr id="13" name=""/>
          <p:cNvGraphicFramePr/>
          <p:nvPr/>
        </p:nvGraphicFramePr>
        <p:xfrm>
          <a:off xmlns:a="http://schemas.openxmlformats.org/drawingml/2006/main" x="7381875" y="4181475"/>
          <a:ext xmlns:a="http://schemas.openxmlformats.org/drawingml/2006/main" cx="4191000" cy="1457325"/>
        </p:xfrm>
        <a:graphic xmlns:a="http://schemas.openxmlformats.org/drawingml/2006/main">
          <a:graphicData uri="http://schemas.openxmlformats.org/drawingml/2006/table">
            <a:tbl>
              <a:tblPr firstRow="0" firstCol="0" bandRow="0"/>
              <a:tblGrid>
                <a:gridCol w="1809750"/>
                <a:gridCol w="1428750"/>
                <a:gridCol w="952500"/>
              </a:tblGrid>
              <a:tr h="485775">
                <a:tc>
                  <a:txBody>
                    <a:bodyPr>
                      <a:noAutofit/>
                    </a:bodyPr>
                    <a:lstStyle/>
                    <a:p>
                      <a:pPr algn="l"/>
                      <a:r>
                        <a:rPr sz="1350" b="1">
                          <a:solidFill>
                            <a:srgbClr val="000000"/>
                          </a:solidFill>
                          <a:latin typeface="Arial"/>
                          <a:ea typeface="Arial"/>
                          <a:cs typeface="Arial"/>
                        </a:rPr>
                        <a:t>Actual / predicted</a:t>
                      </a:r>
                    </a:p>
                  </a:txBody>
                  <a:tcPr marL="95250" marR="95250" marT="0" marB="0">
                    <a:solidFill>
                      <a:srgbClr val="FFFFFF"/>
                    </a:solidFill>
                  </a:tcPr>
                </a:tc>
                <a:tc>
                  <a:txBody>
                    <a:bodyPr>
                      <a:noAutofit/>
                    </a:bodyPr>
                    <a:lstStyle/>
                    <a:p>
                      <a:pPr algn="ctr"/>
                      <a:r>
                        <a:rPr sz="1350" b="1">
                          <a:solidFill>
                            <a:srgbClr val="000000"/>
                          </a:solidFill>
                          <a:latin typeface="Arial"/>
                          <a:ea typeface="Arial"/>
                          <a:cs typeface="Arial"/>
                        </a:rPr>
                        <a:t>Non-HFrEF</a:t>
                      </a:r>
                    </a:p>
                  </a:txBody>
                  <a:tcPr marL="95250" marR="95250" marT="0" marB="0">
                    <a:solidFill>
                      <a:srgbClr val="FFFFFF"/>
                    </a:solidFill>
                  </a:tcPr>
                </a:tc>
                <a:tc>
                  <a:txBody>
                    <a:bodyPr>
                      <a:noAutofit/>
                    </a:bodyPr>
                    <a:lstStyle/>
                    <a:p>
                      <a:pPr algn="ctr"/>
                      <a:r>
                        <a:rPr sz="1350" b="1">
                          <a:solidFill>
                            <a:srgbClr val="000000"/>
                          </a:solidFill>
                          <a:latin typeface="Arial"/>
                          <a:ea typeface="Arial"/>
                          <a:cs typeface="Arial"/>
                        </a:rPr>
                        <a:t>HFrEF</a:t>
                      </a:r>
                    </a:p>
                  </a:txBody>
                  <a:tcPr marL="95250" marR="95250" marT="0" marB="0">
                    <a:solidFill>
                      <a:srgbClr val="FFFFFF"/>
                    </a:solidFill>
                  </a:tcPr>
                </a:tc>
              </a:tr>
              <a:tr h="485775">
                <a:tc>
                  <a:txBody>
                    <a:bodyPr>
                      <a:noAutofit/>
                    </a:bodyPr>
                    <a:lstStyle/>
                    <a:p>
                      <a:pPr algn="l"/>
                      <a:r>
                        <a:rPr sz="1350" b="0">
                          <a:solidFill>
                            <a:srgbClr val="000000"/>
                          </a:solidFill>
                          <a:latin typeface="Arial"/>
                          <a:ea typeface="Arial"/>
                          <a:cs typeface="Arial"/>
                        </a:rPr>
                        <a:t>Non-HFrEF</a:t>
                      </a:r>
                    </a:p>
                  </a:txBody>
                  <a:tcPr marL="95250" marR="95250" marT="0" marB="0">
                    <a:solidFill>
                      <a:srgbClr val="FFFFFF"/>
                    </a:solidFill>
                  </a:tcPr>
                </a:tc>
                <a:tc>
                  <a:txBody>
                    <a:bodyPr>
                      <a:noAutofit/>
                    </a:bodyPr>
                    <a:lstStyle/>
                    <a:p>
                      <a:pPr algn="ctr"/>
                      <a:r>
                        <a:rPr sz="1350" b="0">
                          <a:solidFill>
                            <a:srgbClr val="000000"/>
                          </a:solidFill>
                          <a:latin typeface="Arial"/>
                          <a:ea typeface="Arial"/>
                          <a:cs typeface="Arial"/>
                        </a:rPr>
                        <a:t>96</a:t>
                      </a:r>
                    </a:p>
                  </a:txBody>
                  <a:tcPr marL="95250" marR="95250" marT="0" marB="0">
                    <a:solidFill>
                      <a:srgbClr val="FFFFFF"/>
                    </a:solidFill>
                  </a:tcPr>
                </a:tc>
                <a:tc>
                  <a:txBody>
                    <a:bodyPr>
                      <a:noAutofit/>
                    </a:bodyPr>
                    <a:lstStyle/>
                    <a:p>
                      <a:pPr algn="ctr"/>
                      <a:r>
                        <a:rPr sz="1350" b="0">
                          <a:solidFill>
                            <a:srgbClr val="000000"/>
                          </a:solidFill>
                          <a:latin typeface="Arial"/>
                          <a:ea typeface="Arial"/>
                          <a:cs typeface="Arial"/>
                        </a:rPr>
                        <a:t>19</a:t>
                      </a:r>
                    </a:p>
                  </a:txBody>
                  <a:tcPr marL="95250" marR="95250" marT="0" marB="0">
                    <a:solidFill>
                      <a:srgbClr val="FFFFFF"/>
                    </a:solidFill>
                  </a:tcPr>
                </a:tc>
              </a:tr>
              <a:tr h="485775">
                <a:tc>
                  <a:txBody>
                    <a:bodyPr>
                      <a:noAutofit/>
                    </a:bodyPr>
                    <a:lstStyle/>
                    <a:p>
                      <a:pPr algn="l"/>
                      <a:r>
                        <a:rPr sz="1350" b="0">
                          <a:solidFill>
                            <a:srgbClr val="000000"/>
                          </a:solidFill>
                          <a:latin typeface="Arial"/>
                          <a:ea typeface="Arial"/>
                          <a:cs typeface="Arial"/>
                        </a:rPr>
                        <a:t>HFrEF</a:t>
                      </a:r>
                    </a:p>
                  </a:txBody>
                  <a:tcPr marL="95250" marR="95250" marT="0" marB="0">
                    <a:solidFill>
                      <a:srgbClr val="FFFFFF"/>
                    </a:solidFill>
                  </a:tcPr>
                </a:tc>
                <a:tc>
                  <a:txBody>
                    <a:bodyPr>
                      <a:noAutofit/>
                    </a:bodyPr>
                    <a:lstStyle/>
                    <a:p>
                      <a:pPr algn="ctr"/>
                      <a:r>
                        <a:rPr sz="1350" b="0">
                          <a:solidFill>
                            <a:srgbClr val="000000"/>
                          </a:solidFill>
                          <a:latin typeface="Arial"/>
                          <a:ea typeface="Arial"/>
                          <a:cs typeface="Arial"/>
                        </a:rPr>
                        <a:t>1</a:t>
                      </a:r>
                    </a:p>
                  </a:txBody>
                  <a:tcPr marL="95250" marR="95250" marT="0" marB="0">
                    <a:solidFill>
                      <a:srgbClr val="FFFFFF"/>
                    </a:solidFill>
                  </a:tcPr>
                </a:tc>
                <a:tc>
                  <a:txBody>
                    <a:bodyPr>
                      <a:noAutofit/>
                    </a:bodyPr>
                    <a:lstStyle/>
                    <a:p>
                      <a:pPr algn="ctr"/>
                      <a:r>
                        <a:rPr sz="1350" b="0">
                          <a:solidFill>
                            <a:srgbClr val="000000"/>
                          </a:solidFill>
                          <a:latin typeface="Arial"/>
                          <a:ea typeface="Arial"/>
                          <a:cs typeface="Arial"/>
                        </a:rPr>
                        <a:t>4</a:t>
                      </a:r>
                    </a:p>
                  </a:txBody>
                  <a:tcPr marL="95250" marR="95250" marT="0" marB="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670A8151-BB91-46EF-B217-7E113D565505}"/>
              </a:ext>
            </a:extLst>
          </p:cNvPr>
          <p:cNvSpPr>
            <a:spLocks xmlns:a="http://schemas.openxmlformats.org/drawingml/2006/main" noGrp="1"/>
          </p:cNvSpPr>
          <p:nvPr/>
        </p:nvSpPr>
        <p:spPr>
          <a:xfrm xmlns:a="http://schemas.openxmlformats.org/drawingml/2006/main">
            <a:off x="609600" y="61055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000000"/>
                </a:solidFill>
                <a:latin typeface="Arial"/>
                <a:ea typeface="Arial"/>
                <a:cs typeface="Arial"/>
              </a:defRPr>
            </a:pPr>
            <a:r>
              <a:rPr sz="1350" b="0">
                <a:solidFill>
                  <a:srgbClr val="000000"/>
                </a:solidFill>
                <a:latin typeface="Arial"/>
                <a:ea typeface="Arial"/>
                <a:cs typeface="Arial"/>
              </a:rPr>
              <a:t>Accuracy is overall. Precision, recall and F1 refer to HFrEF.</a:t>
            </a:r>
          </a:p>
          <a:p xmlns:a="http://schemas.openxmlformats.org/drawingml/2006/main">
            <a:pPr>
              <a:defRPr sz="1350" b="0">
                <a:solidFill>
                  <a:srgbClr val="000000"/>
                </a:solidFill>
                <a:latin typeface="Arial"/>
                <a:ea typeface="Arial"/>
                <a:cs typeface="Arial"/>
              </a:defRPr>
            </a:pPr>
            <a:r>
              <a:rPr sz="1350" b="0">
                <a:solidFill>
                  <a:srgbClr val="000000"/>
                </a:solidFill>
                <a:latin typeface="Arial"/>
                <a:ea typeface="Arial"/>
                <a:cs typeface="Arial"/>
              </a:rPr>
              <a:t>Same patient split. Input is 4 × 2,500 samples. Five seconds means less signal required; speed was not measured.</a:t>
            </a:r>
          </a:p>
        </p:txBody>
      </p:sp>
    </p:spTree>
    <p:extLst>
      <p:ext uri="{BB962C8B-B14F-4D97-AF65-F5344CB8AC3E}">
        <p14:creationId xmlns:p14="http://schemas.microsoft.com/office/powerpoint/2010/main" val="13092175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BEC47B8-4D49-4251-BC28-7AE30851161A}"/>
              </a:ext>
            </a:extLst>
          </p:cNvPr>
          <p:cNvSpPr>
            <a:spLocks xmlns:a="http://schemas.openxmlformats.org/drawingml/2006/main" noGrp="1"/>
          </p:cNvSpPr>
          <p:nvPr/>
        </p:nvSpPr>
        <p:spPr>
          <a:xfrm xmlns:a="http://schemas.openxmlformats.org/drawingml/2006/main">
            <a:off x="609600" y="40957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000000"/>
                </a:solidFill>
                <a:latin typeface="Arial"/>
                <a:ea typeface="Arial"/>
                <a:cs typeface="Arial"/>
              </a:defRPr>
            </a:pPr>
            <a:r>
              <a:rPr sz="3150" b="1">
                <a:solidFill>
                  <a:srgbClr val="000000"/>
                </a:solidFill>
                <a:latin typeface="Arial"/>
                <a:ea typeface="Arial"/>
                <a:cs typeface="Arial"/>
              </a:rPr>
              <a:t>5. Predictions change across segments</a:t>
            </a:r>
          </a:p>
        </p:txBody>
      </p:sp>
      <p:sp>
        <p:nvSpPr>
          <p:cNvPr id="2" name="">
            <a:extLst xmlns:a="http://schemas.openxmlformats.org/drawingml/2006/main">
              <a:ext uri="{FF2B5EF4-FFF2-40B4-BE49-F238E27FC236}">
                <a16:creationId xmlns:a16="http://schemas.microsoft.com/office/drawing/2014/main" id="{A07AE7D2-F95B-4F91-AF1E-9E26A04ADC8D}"/>
              </a:ext>
            </a:extLst>
          </p:cNvPr>
          <p:cNvSpPr>
            <a:spLocks xmlns:a="http://schemas.openxmlformats.org/drawingml/2006/main" noGrp="1"/>
          </p:cNvSpPr>
          <p:nvPr/>
        </p:nvSpPr>
        <p:spPr>
          <a:xfrm xmlns:a="http://schemas.openxmlformats.org/drawingml/2006/main">
            <a:off x="609600" y="109537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000000"/>
                </a:solidFill>
                <a:latin typeface="Arial"/>
                <a:ea typeface="Arial"/>
                <a:cs typeface="Arial"/>
              </a:defRPr>
            </a:pPr>
            <a:r>
              <a:rPr sz="1875" b="0">
                <a:solidFill>
                  <a:srgbClr val="000000"/>
                </a:solidFill>
                <a:latin typeface="Arial"/>
                <a:ea typeface="Arial"/>
                <a:cs typeface="Arial"/>
              </a:rPr>
              <a:t>Test results for each five-second window, using the same model and cutoff.</a:t>
            </a:r>
          </a:p>
        </p:txBody>
      </p:sp>
      <p:sp>
        <p:nvSpPr>
          <p:cNvPr id="3" name="">
            <a:extLst xmlns:a="http://schemas.openxmlformats.org/drawingml/2006/main">
              <a:ext uri="{FF2B5EF4-FFF2-40B4-BE49-F238E27FC236}">
                <a16:creationId xmlns:a16="http://schemas.microsoft.com/office/drawing/2014/main" id="{44D9CE4D-15A4-4CF6-8007-1BB7108E3073}"/>
              </a:ext>
            </a:extLst>
          </p:cNvPr>
          <p:cNvSpPr>
            <a:spLocks xmlns:a="http://schemas.openxmlformats.org/drawingml/2006/main" noGrp="1"/>
          </p:cNvSpPr>
          <p:nvPr/>
        </p:nvSpPr>
        <p:spPr>
          <a:xfrm xmlns:a="http://schemas.openxmlformats.org/drawingml/2006/main">
            <a:off x="609600" y="1905000"/>
            <a:ext cx="56197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000000"/>
                </a:solidFill>
                <a:latin typeface="Arial"/>
                <a:ea typeface="Arial"/>
                <a:cs typeface="Arial"/>
              </a:defRPr>
            </a:pPr>
            <a:r>
              <a:rPr sz="1950" b="0">
                <a:solidFill>
                  <a:srgbClr val="000000"/>
                </a:solidFill>
                <a:latin typeface="Arial"/>
                <a:ea typeface="Arial"/>
                <a:cs typeface="Arial"/>
              </a:rPr>
              <a:t>All six predictions agree for 96 of 120 patients.</a:t>
            </a:r>
          </a:p>
          <a:p xmlns:a="http://schemas.openxmlformats.org/drawingml/2006/main">
            <a:r>
              <a:t/>
            </a:r>
          </a:p>
          <a:p xmlns:a="http://schemas.openxmlformats.org/drawingml/2006/main">
            <a:pPr>
              <a:defRPr sz="1950" b="0">
                <a:solidFill>
                  <a:srgbClr val="000000"/>
                </a:solidFill>
                <a:latin typeface="Arial"/>
                <a:ea typeface="Arial"/>
                <a:cs typeface="Arial"/>
              </a:defRPr>
            </a:pPr>
            <a:r>
              <a:rPr sz="1950" b="0">
                <a:solidFill>
                  <a:srgbClr val="000000"/>
                </a:solidFill>
                <a:latin typeface="Arial"/>
                <a:ea typeface="Arial"/>
                <a:cs typeface="Arial"/>
              </a:rPr>
              <a:t>One HFrEF patient changes from negative</a:t>
            </a:r>
          </a:p>
          <a:p xmlns:a="http://schemas.openxmlformats.org/drawingml/2006/main">
            <a:pPr>
              <a:defRPr sz="1950" b="0">
                <a:solidFill>
                  <a:srgbClr val="000000"/>
                </a:solidFill>
                <a:latin typeface="Arial"/>
                <a:ea typeface="Arial"/>
                <a:cs typeface="Arial"/>
              </a:defRPr>
            </a:pPr>
            <a:r>
              <a:rPr sz="1950" b="0">
                <a:solidFill>
                  <a:srgbClr val="000000"/>
                </a:solidFill>
                <a:latin typeface="Arial"/>
                <a:ea typeface="Arial"/>
                <a:cs typeface="Arial"/>
              </a:rPr>
              <a:t>in the first three windows to positive</a:t>
            </a:r>
          </a:p>
          <a:p xmlns:a="http://schemas.openxmlformats.org/drawingml/2006/main">
            <a:pPr>
              <a:defRPr sz="1950" b="0">
                <a:solidFill>
                  <a:srgbClr val="000000"/>
                </a:solidFill>
                <a:latin typeface="Arial"/>
                <a:ea typeface="Arial"/>
                <a:cs typeface="Arial"/>
              </a:defRPr>
            </a:pPr>
            <a:r>
              <a:rPr sz="1950" b="0">
                <a:solidFill>
                  <a:srgbClr val="000000"/>
                </a:solidFill>
                <a:latin typeface="Arial"/>
                <a:ea typeface="Arial"/>
                <a:cs typeface="Arial"/>
              </a:rPr>
              <a:t>in the last three.</a:t>
            </a:r>
          </a:p>
        </p:txBody>
      </p:sp>
      <p:graphicFrame>
        <p:nvGraphicFramePr>
          <p:cNvPr id="10" name="Chart"/>
          <p:cNvGraphicFramePr/>
          <p:nvPr/>
        </p:nvGraphicFramePr>
        <p:xfrm>
          <a:off xmlns:a="http://schemas.openxmlformats.org/drawingml/2006/main" x="6762750" y="1714500"/>
          <a:ext xmlns:a="http://schemas.openxmlformats.org/drawingml/2006/main" cx="4857750" cy="2047875"/>
        </p:xfrm>
        <a:graphic xmlns:a="http://schemas.openxmlformats.org/drawingml/2006/main">
          <a:graphicData uri="http://schemas.openxmlformats.org/drawingml/2006/chart">
            <c:chart xmlns:r="http://schemas.openxmlformats.org/officeDocument/2006/relationships" xmlns:c="http://schemas.openxmlformats.org/drawingml/2006/chart" r:id="Rfb0a385ffe834e89"/>
          </a:graphicData>
        </a:graphic>
      </p:graphicFrame>
      <p:graphicFrame>
        <p:nvGraphicFramePr>
          <p:cNvPr id="11" name=""/>
          <p:cNvGraphicFramePr/>
          <p:nvPr/>
        </p:nvGraphicFramePr>
        <p:xfrm>
          <a:off xmlns:a="http://schemas.openxmlformats.org/drawingml/2006/main" x="609600" y="3829050"/>
          <a:ext xmlns:a="http://schemas.openxmlformats.org/drawingml/2006/main" cx="10972800" cy="2066925"/>
        </p:xfrm>
        <a:graphic xmlns:a="http://schemas.openxmlformats.org/drawingml/2006/main">
          <a:graphicData uri="http://schemas.openxmlformats.org/drawingml/2006/table">
            <a:tbl>
              <a:tblPr firstRow="0" firstCol="0" bandRow="0"/>
              <a:tblGrid>
                <a:gridCol w="2495550"/>
                <a:gridCol w="1695450"/>
                <a:gridCol w="1695450"/>
                <a:gridCol w="1695450"/>
                <a:gridCol w="1695450"/>
                <a:gridCol w="1695450"/>
              </a:tblGrid>
              <a:tr h="295275">
                <a:tc>
                  <a:txBody>
                    <a:bodyPr>
                      <a:noAutofit/>
                    </a:bodyPr>
                    <a:lstStyle/>
                    <a:p>
                      <a:pPr algn="l"/>
                      <a:r>
                        <a:rPr sz="1575" b="1">
                          <a:solidFill>
                            <a:srgbClr val="000000"/>
                          </a:solidFill>
                          <a:latin typeface="Arial"/>
                          <a:ea typeface="Arial"/>
                          <a:cs typeface="Arial"/>
                        </a:rPr>
                        <a:t>Results</a:t>
                      </a:r>
                    </a:p>
                  </a:txBody>
                  <a:tcPr marL="95250" marR="95250" marT="0" marB="0">
                    <a:solidFill>
                      <a:srgbClr val="FFFFFF"/>
                    </a:solidFill>
                  </a:tcPr>
                </a:tc>
                <a:tc>
                  <a:txBody>
                    <a:bodyPr>
                      <a:noAutofit/>
                    </a:bodyPr>
                    <a:lstStyle/>
                    <a:p>
                      <a:pPr algn="ctr"/>
                      <a:r>
                        <a:rPr sz="1575" b="1">
                          <a:solidFill>
                            <a:srgbClr val="000000"/>
                          </a:solidFill>
                          <a:latin typeface="Arial"/>
                          <a:ea typeface="Arial"/>
                          <a:cs typeface="Arial"/>
                        </a:rPr>
                        <a:t>AUROC</a:t>
                      </a:r>
                    </a:p>
                  </a:txBody>
                  <a:tcPr marL="95250" marR="95250" marT="0" marB="0">
                    <a:solidFill>
                      <a:srgbClr val="FFFFFF"/>
                    </a:solidFill>
                  </a:tcPr>
                </a:tc>
                <a:tc>
                  <a:txBody>
                    <a:bodyPr>
                      <a:noAutofit/>
                    </a:bodyPr>
                    <a:lstStyle/>
                    <a:p>
                      <a:pPr algn="ctr"/>
                      <a:r>
                        <a:rPr sz="1575" b="1">
                          <a:solidFill>
                            <a:srgbClr val="000000"/>
                          </a:solidFill>
                          <a:latin typeface="Arial"/>
                          <a:ea typeface="Arial"/>
                          <a:cs typeface="Arial"/>
                        </a:rPr>
                        <a:t>Accuracy</a:t>
                      </a:r>
                    </a:p>
                  </a:txBody>
                  <a:tcPr marL="95250" marR="95250" marT="0" marB="0">
                    <a:solidFill>
                      <a:srgbClr val="FFFFFF"/>
                    </a:solidFill>
                  </a:tcPr>
                </a:tc>
                <a:tc>
                  <a:txBody>
                    <a:bodyPr>
                      <a:noAutofit/>
                    </a:bodyPr>
                    <a:lstStyle/>
                    <a:p>
                      <a:pPr algn="ctr"/>
                      <a:r>
                        <a:rPr sz="1575" b="1">
                          <a:solidFill>
                            <a:srgbClr val="000000"/>
                          </a:solidFill>
                          <a:latin typeface="Arial"/>
                          <a:ea typeface="Arial"/>
                          <a:cs typeface="Arial"/>
                        </a:rPr>
                        <a:t>Precision</a:t>
                      </a:r>
                    </a:p>
                  </a:txBody>
                  <a:tcPr marL="95250" marR="95250" marT="0" marB="0">
                    <a:solidFill>
                      <a:srgbClr val="FFFFFF"/>
                    </a:solidFill>
                  </a:tcPr>
                </a:tc>
                <a:tc>
                  <a:txBody>
                    <a:bodyPr>
                      <a:noAutofit/>
                    </a:bodyPr>
                    <a:lstStyle/>
                    <a:p>
                      <a:pPr algn="ctr"/>
                      <a:r>
                        <a:rPr sz="1575" b="1">
                          <a:solidFill>
                            <a:srgbClr val="000000"/>
                          </a:solidFill>
                          <a:latin typeface="Arial"/>
                          <a:ea typeface="Arial"/>
                          <a:cs typeface="Arial"/>
                        </a:rPr>
                        <a:t>Recall</a:t>
                      </a:r>
                    </a:p>
                  </a:txBody>
                  <a:tcPr marL="95250" marR="95250" marT="0" marB="0">
                    <a:solidFill>
                      <a:srgbClr val="FFFFFF"/>
                    </a:solidFill>
                  </a:tcPr>
                </a:tc>
                <a:tc>
                  <a:txBody>
                    <a:bodyPr>
                      <a:noAutofit/>
                    </a:bodyPr>
                    <a:lstStyle/>
                    <a:p>
                      <a:pPr algn="ctr"/>
                      <a:r>
                        <a:rPr sz="1575" b="1">
                          <a:solidFill>
                            <a:srgbClr val="000000"/>
                          </a:solidFill>
                          <a:latin typeface="Arial"/>
                          <a:ea typeface="Arial"/>
                          <a:cs typeface="Arial"/>
                        </a:rPr>
                        <a:t>F1</a:t>
                      </a:r>
                    </a:p>
                  </a:txBody>
                  <a:tcPr marL="95250" marR="95250" marT="0" marB="0">
                    <a:solidFill>
                      <a:srgbClr val="FFFFFF"/>
                    </a:solidFill>
                  </a:tcPr>
                </a:tc>
              </a:tr>
              <a:tr h="295275">
                <a:tc>
                  <a:txBody>
                    <a:bodyPr>
                      <a:noAutofit/>
                    </a:bodyPr>
                    <a:lstStyle/>
                    <a:p>
                      <a:pPr algn="l"/>
                      <a:r>
                        <a:rPr sz="1575" b="0">
                          <a:solidFill>
                            <a:srgbClr val="000000"/>
                          </a:solidFill>
                          <a:latin typeface="Arial"/>
                          <a:ea typeface="Arial"/>
                          <a:cs typeface="Arial"/>
                        </a:rPr>
                        <a:t>0-5s</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0.9200</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83.3%</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17.4%</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80.0%</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28.6%</a:t>
                      </a:r>
                    </a:p>
                  </a:txBody>
                  <a:tcPr marL="95250" marR="95250" marT="0" marB="0">
                    <a:solidFill>
                      <a:srgbClr val="FFFFFF"/>
                    </a:solidFill>
                  </a:tcPr>
                </a:tc>
              </a:tr>
              <a:tr h="295275">
                <a:tc>
                  <a:txBody>
                    <a:bodyPr>
                      <a:noAutofit/>
                    </a:bodyPr>
                    <a:lstStyle/>
                    <a:p>
                      <a:pPr algn="l"/>
                      <a:r>
                        <a:rPr sz="1575" b="0">
                          <a:solidFill>
                            <a:srgbClr val="000000"/>
                          </a:solidFill>
                          <a:latin typeface="Arial"/>
                          <a:ea typeface="Arial"/>
                          <a:cs typeface="Arial"/>
                        </a:rPr>
                        <a:t>5-10s</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0.9357</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90.0%</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26.7%</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80.0%</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40.0%</a:t>
                      </a:r>
                    </a:p>
                  </a:txBody>
                  <a:tcPr marL="95250" marR="95250" marT="0" marB="0">
                    <a:solidFill>
                      <a:srgbClr val="FFFFFF"/>
                    </a:solidFill>
                  </a:tcPr>
                </a:tc>
              </a:tr>
              <a:tr h="295275">
                <a:tc>
                  <a:txBody>
                    <a:bodyPr>
                      <a:noAutofit/>
                    </a:bodyPr>
                    <a:lstStyle/>
                    <a:p>
                      <a:pPr algn="l"/>
                      <a:r>
                        <a:rPr sz="1575" b="0">
                          <a:solidFill>
                            <a:srgbClr val="000000"/>
                          </a:solidFill>
                          <a:latin typeface="Arial"/>
                          <a:ea typeface="Arial"/>
                          <a:cs typeface="Arial"/>
                        </a:rPr>
                        <a:t>10-15s</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0.9670</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89.2%</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25.0%</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80.0%</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38.1%</a:t>
                      </a:r>
                    </a:p>
                  </a:txBody>
                  <a:tcPr marL="95250" marR="95250" marT="0" marB="0">
                    <a:solidFill>
                      <a:srgbClr val="FFFFFF"/>
                    </a:solidFill>
                  </a:tcPr>
                </a:tc>
              </a:tr>
              <a:tr h="295275">
                <a:tc>
                  <a:txBody>
                    <a:bodyPr>
                      <a:noAutofit/>
                    </a:bodyPr>
                    <a:lstStyle/>
                    <a:p>
                      <a:pPr algn="l"/>
                      <a:r>
                        <a:rPr sz="1575" b="0">
                          <a:solidFill>
                            <a:srgbClr val="000000"/>
                          </a:solidFill>
                          <a:latin typeface="Arial"/>
                          <a:ea typeface="Arial"/>
                          <a:cs typeface="Arial"/>
                        </a:rPr>
                        <a:t>15-20s</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0.9635</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88.3%</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26.3%</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100.0%</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41.7%</a:t>
                      </a:r>
                    </a:p>
                  </a:txBody>
                  <a:tcPr marL="95250" marR="95250" marT="0" marB="0">
                    <a:solidFill>
                      <a:srgbClr val="FFFFFF"/>
                    </a:solidFill>
                  </a:tcPr>
                </a:tc>
              </a:tr>
              <a:tr h="295275">
                <a:tc>
                  <a:txBody>
                    <a:bodyPr>
                      <a:noAutofit/>
                    </a:bodyPr>
                    <a:lstStyle/>
                    <a:p>
                      <a:pPr algn="l"/>
                      <a:r>
                        <a:rPr sz="1575" b="0">
                          <a:solidFill>
                            <a:srgbClr val="000000"/>
                          </a:solidFill>
                          <a:latin typeface="Arial"/>
                          <a:ea typeface="Arial"/>
                          <a:cs typeface="Arial"/>
                        </a:rPr>
                        <a:t>20-25s</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0.9739</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90.8%</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31.2%</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100.0%</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47.6%</a:t>
                      </a:r>
                    </a:p>
                  </a:txBody>
                  <a:tcPr marL="95250" marR="95250" marT="0" marB="0">
                    <a:solidFill>
                      <a:srgbClr val="FFFFFF"/>
                    </a:solidFill>
                  </a:tcPr>
                </a:tc>
              </a:tr>
              <a:tr h="295275">
                <a:tc>
                  <a:txBody>
                    <a:bodyPr>
                      <a:noAutofit/>
                    </a:bodyPr>
                    <a:lstStyle/>
                    <a:p>
                      <a:pPr algn="l"/>
                      <a:r>
                        <a:rPr sz="1575" b="0">
                          <a:solidFill>
                            <a:srgbClr val="000000"/>
                          </a:solidFill>
                          <a:latin typeface="Arial"/>
                          <a:ea typeface="Arial"/>
                          <a:cs typeface="Arial"/>
                        </a:rPr>
                        <a:t>25-30s</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0.9896</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92.5%</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35.7%</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100.0%</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52.6%</a:t>
                      </a:r>
                    </a:p>
                  </a:txBody>
                  <a:tcPr marL="95250" marR="95250" marT="0" marB="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1225F56D-799C-4E77-A480-C031526AABA1}"/>
              </a:ext>
            </a:extLst>
          </p:cNvPr>
          <p:cNvSpPr>
            <a:spLocks xmlns:a="http://schemas.openxmlformats.org/drawingml/2006/main" noGrp="1"/>
          </p:cNvSpPr>
          <p:nvPr/>
        </p:nvSpPr>
        <p:spPr>
          <a:xfrm xmlns:a="http://schemas.openxmlformats.org/drawingml/2006/main">
            <a:off x="609600" y="61055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000000"/>
                </a:solidFill>
                <a:latin typeface="Arial"/>
                <a:ea typeface="Arial"/>
                <a:cs typeface="Arial"/>
              </a:defRPr>
            </a:pPr>
            <a:r>
              <a:rPr sz="1350" b="0">
                <a:solidFill>
                  <a:srgbClr val="000000"/>
                </a:solidFill>
                <a:latin typeface="Arial"/>
                <a:ea typeface="Arial"/>
                <a:cs typeface="Arial"/>
              </a:rPr>
              <a:t>120 test patients, including 5 HFrEF cases. Recall changes by 20 percentage points for one positive patient.</a:t>
            </a:r>
          </a:p>
          <a:p xmlns:a="http://schemas.openxmlformats.org/drawingml/2006/main">
            <a:pPr>
              <a:defRPr sz="1350" b="0">
                <a:solidFill>
                  <a:srgbClr val="000000"/>
                </a:solidFill>
                <a:latin typeface="Arial"/>
                <a:ea typeface="Arial"/>
                <a:cs typeface="Arial"/>
              </a:defRPr>
            </a:pPr>
            <a:r>
              <a:rPr sz="1350" b="0">
                <a:solidFill>
                  <a:srgbClr val="000000"/>
                </a:solidFill>
                <a:latin typeface="Arial"/>
                <a:ea typeface="Arial"/>
                <a:cs typeface="Arial"/>
              </a:rPr>
              <a:t>Repeated beats do not guarantee that every five-second window contains equally useful information.</a:t>
            </a:r>
          </a:p>
        </p:txBody>
      </p:sp>
    </p:spTree>
    <p:extLst>
      <p:ext uri="{BB962C8B-B14F-4D97-AF65-F5344CB8AC3E}">
        <p14:creationId xmlns:p14="http://schemas.microsoft.com/office/powerpoint/2010/main" val="148095887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1BFC4C2-18EB-435C-8B95-B2C8F72EF88A}"/>
              </a:ext>
            </a:extLst>
          </p:cNvPr>
          <p:cNvSpPr>
            <a:spLocks xmlns:a="http://schemas.openxmlformats.org/drawingml/2006/main" noGrp="1"/>
          </p:cNvSpPr>
          <p:nvPr/>
        </p:nvSpPr>
        <p:spPr>
          <a:xfrm xmlns:a="http://schemas.openxmlformats.org/drawingml/2006/main">
            <a:off x="609600" y="40957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000000"/>
                </a:solidFill>
                <a:latin typeface="Arial"/>
                <a:ea typeface="Arial"/>
                <a:cs typeface="Arial"/>
              </a:defRPr>
            </a:pPr>
            <a:r>
              <a:rPr sz="3150" b="1">
                <a:solidFill>
                  <a:srgbClr val="000000"/>
                </a:solidFill>
                <a:latin typeface="Arial"/>
                <a:ea typeface="Arial"/>
                <a:cs typeface="Arial"/>
              </a:rPr>
              <a:t>6. Averaging segments helps</a:t>
            </a:r>
          </a:p>
        </p:txBody>
      </p:sp>
      <p:sp>
        <p:nvSpPr>
          <p:cNvPr id="2" name="">
            <a:extLst xmlns:a="http://schemas.openxmlformats.org/drawingml/2006/main">
              <a:ext uri="{FF2B5EF4-FFF2-40B4-BE49-F238E27FC236}">
                <a16:creationId xmlns:a16="http://schemas.microsoft.com/office/drawing/2014/main" id="{E05F9D3D-4F52-4700-9646-C52BD85743EA}"/>
              </a:ext>
            </a:extLst>
          </p:cNvPr>
          <p:cNvSpPr>
            <a:spLocks xmlns:a="http://schemas.openxmlformats.org/drawingml/2006/main" noGrp="1"/>
          </p:cNvSpPr>
          <p:nvPr/>
        </p:nvSpPr>
        <p:spPr>
          <a:xfrm xmlns:a="http://schemas.openxmlformats.org/drawingml/2006/main">
            <a:off x="609600" y="109537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000000"/>
                </a:solidFill>
                <a:latin typeface="Arial"/>
                <a:ea typeface="Arial"/>
                <a:cs typeface="Arial"/>
              </a:defRPr>
            </a:pPr>
            <a:r>
              <a:rPr sz="1875" b="0">
                <a:solidFill>
                  <a:srgbClr val="000000"/>
                </a:solidFill>
                <a:latin typeface="Arial"/>
                <a:ea typeface="Arial"/>
                <a:cs typeface="Arial"/>
              </a:rPr>
              <a:t>I compared one window, the mean of six window scores, and majority voting.</a:t>
            </a:r>
          </a:p>
        </p:txBody>
      </p:sp>
      <p:graphicFrame>
        <p:nvGraphicFramePr>
          <p:cNvPr id="9" name="Chart"/>
          <p:cNvGraphicFramePr/>
          <p:nvPr/>
        </p:nvGraphicFramePr>
        <p:xfrm>
          <a:off xmlns:a="http://schemas.openxmlformats.org/drawingml/2006/main" x="571500" y="1743075"/>
          <a:ext xmlns:a="http://schemas.openxmlformats.org/drawingml/2006/main" cx="5572125" cy="2505075"/>
        </p:xfrm>
        <a:graphic xmlns:a="http://schemas.openxmlformats.org/drawingml/2006/main">
          <a:graphicData uri="http://schemas.openxmlformats.org/drawingml/2006/chart">
            <c:chart xmlns:r="http://schemas.openxmlformats.org/officeDocument/2006/relationships" xmlns:c="http://schemas.openxmlformats.org/drawingml/2006/chart" r:id="R0dd8029fec644ea8"/>
          </a:graphicData>
        </a:graphic>
      </p:graphicFrame>
      <p:sp>
        <p:nvSpPr>
          <p:cNvPr id="4" name="">
            <a:extLst xmlns:a="http://schemas.openxmlformats.org/drawingml/2006/main">
              <a:ext uri="{FF2B5EF4-FFF2-40B4-BE49-F238E27FC236}">
                <a16:creationId xmlns:a16="http://schemas.microsoft.com/office/drawing/2014/main" id="{4C8BCD5B-0474-4187-9B8D-5FFB399DB3CD}"/>
              </a:ext>
            </a:extLst>
          </p:cNvPr>
          <p:cNvSpPr>
            <a:spLocks xmlns:a="http://schemas.openxmlformats.org/drawingml/2006/main" noGrp="1"/>
          </p:cNvSpPr>
          <p:nvPr/>
        </p:nvSpPr>
        <p:spPr>
          <a:xfrm xmlns:a="http://schemas.openxmlformats.org/drawingml/2006/main">
            <a:off x="6381750" y="1952625"/>
            <a:ext cx="523875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000000"/>
                </a:solidFill>
                <a:latin typeface="Arial"/>
                <a:ea typeface="Arial"/>
                <a:cs typeface="Arial"/>
              </a:defRPr>
            </a:pPr>
            <a:r>
              <a:rPr sz="1875" b="0">
                <a:solidFill>
                  <a:srgbClr val="000000"/>
                </a:solidFill>
                <a:latin typeface="Arial"/>
                <a:ea typeface="Arial"/>
                <a:cs typeface="Arial"/>
              </a:rPr>
              <a:t>Averaging reduces false positives from 19 to 4.</a:t>
            </a:r>
          </a:p>
          <a:p xmlns:a="http://schemas.openxmlformats.org/drawingml/2006/main">
            <a:pPr>
              <a:defRPr sz="1875" b="0">
                <a:solidFill>
                  <a:srgbClr val="000000"/>
                </a:solidFill>
                <a:latin typeface="Arial"/>
                <a:ea typeface="Arial"/>
                <a:cs typeface="Arial"/>
              </a:defRPr>
            </a:pPr>
            <a:r>
              <a:rPr sz="1875" b="0">
                <a:solidFill>
                  <a:srgbClr val="000000"/>
                </a:solidFill>
                <a:latin typeface="Arial"/>
                <a:ea typeface="Arial"/>
                <a:cs typeface="Arial"/>
              </a:rPr>
              <a:t>It still misses one HFrEF case.</a:t>
            </a:r>
          </a:p>
          <a:p xmlns:a="http://schemas.openxmlformats.org/drawingml/2006/main">
            <a:r>
              <a:t/>
            </a:r>
          </a:p>
          <a:p xmlns:a="http://schemas.openxmlformats.org/drawingml/2006/main">
            <a:pPr>
              <a:defRPr sz="1875" b="0">
                <a:solidFill>
                  <a:srgbClr val="000000"/>
                </a:solidFill>
                <a:latin typeface="Arial"/>
                <a:ea typeface="Arial"/>
                <a:cs typeface="Arial"/>
              </a:defRPr>
            </a:pPr>
            <a:r>
              <a:rPr sz="1875" b="0">
                <a:solidFill>
                  <a:srgbClr val="000000"/>
                </a:solidFill>
                <a:latin typeface="Arial"/>
                <a:ea typeface="Arial"/>
                <a:cs typeface="Arial"/>
              </a:rPr>
              <a:t>I would keep the full 30-second model for now</a:t>
            </a:r>
          </a:p>
          <a:p xmlns:a="http://schemas.openxmlformats.org/drawingml/2006/main">
            <a:pPr>
              <a:defRPr sz="1875" b="0">
                <a:solidFill>
                  <a:srgbClr val="000000"/>
                </a:solidFill>
                <a:latin typeface="Arial"/>
                <a:ea typeface="Arial"/>
                <a:cs typeface="Arial"/>
              </a:defRPr>
            </a:pPr>
            <a:r>
              <a:rPr sz="1875" b="0">
                <a:solidFill>
                  <a:srgbClr val="000000"/>
                </a:solidFill>
                <a:latin typeface="Arial"/>
                <a:ea typeface="Arial"/>
                <a:cs typeface="Arial"/>
              </a:rPr>
              <a:t>and test across more patient folds.</a:t>
            </a:r>
          </a:p>
        </p:txBody>
      </p:sp>
      <p:graphicFrame>
        <p:nvGraphicFramePr>
          <p:cNvPr id="11" name=""/>
          <p:cNvGraphicFramePr/>
          <p:nvPr/>
        </p:nvGraphicFramePr>
        <p:xfrm>
          <a:off xmlns:a="http://schemas.openxmlformats.org/drawingml/2006/main" x="609600" y="4381500"/>
          <a:ext xmlns:a="http://schemas.openxmlformats.org/drawingml/2006/main" cx="10972800" cy="1581150"/>
        </p:xfrm>
        <a:graphic xmlns:a="http://schemas.openxmlformats.org/drawingml/2006/main">
          <a:graphicData uri="http://schemas.openxmlformats.org/drawingml/2006/table">
            <a:tbl>
              <a:tblPr firstRow="0" firstCol="0" bandRow="0"/>
              <a:tblGrid>
                <a:gridCol w="2495550"/>
                <a:gridCol w="1695450"/>
                <a:gridCol w="1695450"/>
                <a:gridCol w="1695450"/>
                <a:gridCol w="1695450"/>
                <a:gridCol w="1695450"/>
              </a:tblGrid>
              <a:tr h="316230">
                <a:tc>
                  <a:txBody>
                    <a:bodyPr>
                      <a:noAutofit/>
                    </a:bodyPr>
                    <a:lstStyle/>
                    <a:p>
                      <a:pPr algn="l"/>
                      <a:r>
                        <a:rPr sz="1575" b="1">
                          <a:solidFill>
                            <a:srgbClr val="000000"/>
                          </a:solidFill>
                          <a:latin typeface="Arial"/>
                          <a:ea typeface="Arial"/>
                          <a:cs typeface="Arial"/>
                        </a:rPr>
                        <a:t>Results</a:t>
                      </a:r>
                    </a:p>
                  </a:txBody>
                  <a:tcPr marL="95250" marR="95250" marT="0" marB="0">
                    <a:solidFill>
                      <a:srgbClr val="FFFFFF"/>
                    </a:solidFill>
                  </a:tcPr>
                </a:tc>
                <a:tc>
                  <a:txBody>
                    <a:bodyPr>
                      <a:noAutofit/>
                    </a:bodyPr>
                    <a:lstStyle/>
                    <a:p>
                      <a:pPr algn="ctr"/>
                      <a:r>
                        <a:rPr sz="1575" b="1">
                          <a:solidFill>
                            <a:srgbClr val="000000"/>
                          </a:solidFill>
                          <a:latin typeface="Arial"/>
                          <a:ea typeface="Arial"/>
                          <a:cs typeface="Arial"/>
                        </a:rPr>
                        <a:t>AUROC</a:t>
                      </a:r>
                    </a:p>
                  </a:txBody>
                  <a:tcPr marL="95250" marR="95250" marT="0" marB="0">
                    <a:solidFill>
                      <a:srgbClr val="FFFFFF"/>
                    </a:solidFill>
                  </a:tcPr>
                </a:tc>
                <a:tc>
                  <a:txBody>
                    <a:bodyPr>
                      <a:noAutofit/>
                    </a:bodyPr>
                    <a:lstStyle/>
                    <a:p>
                      <a:pPr algn="ctr"/>
                      <a:r>
                        <a:rPr sz="1575" b="1">
                          <a:solidFill>
                            <a:srgbClr val="000000"/>
                          </a:solidFill>
                          <a:latin typeface="Arial"/>
                          <a:ea typeface="Arial"/>
                          <a:cs typeface="Arial"/>
                        </a:rPr>
                        <a:t>Accuracy</a:t>
                      </a:r>
                    </a:p>
                  </a:txBody>
                  <a:tcPr marL="95250" marR="95250" marT="0" marB="0">
                    <a:solidFill>
                      <a:srgbClr val="FFFFFF"/>
                    </a:solidFill>
                  </a:tcPr>
                </a:tc>
                <a:tc>
                  <a:txBody>
                    <a:bodyPr>
                      <a:noAutofit/>
                    </a:bodyPr>
                    <a:lstStyle/>
                    <a:p>
                      <a:pPr algn="ctr"/>
                      <a:r>
                        <a:rPr sz="1575" b="1">
                          <a:solidFill>
                            <a:srgbClr val="000000"/>
                          </a:solidFill>
                          <a:latin typeface="Arial"/>
                          <a:ea typeface="Arial"/>
                          <a:cs typeface="Arial"/>
                        </a:rPr>
                        <a:t>Precision</a:t>
                      </a:r>
                    </a:p>
                  </a:txBody>
                  <a:tcPr marL="95250" marR="95250" marT="0" marB="0">
                    <a:solidFill>
                      <a:srgbClr val="FFFFFF"/>
                    </a:solidFill>
                  </a:tcPr>
                </a:tc>
                <a:tc>
                  <a:txBody>
                    <a:bodyPr>
                      <a:noAutofit/>
                    </a:bodyPr>
                    <a:lstStyle/>
                    <a:p>
                      <a:pPr algn="ctr"/>
                      <a:r>
                        <a:rPr sz="1575" b="1">
                          <a:solidFill>
                            <a:srgbClr val="000000"/>
                          </a:solidFill>
                          <a:latin typeface="Arial"/>
                          <a:ea typeface="Arial"/>
                          <a:cs typeface="Arial"/>
                        </a:rPr>
                        <a:t>Recall</a:t>
                      </a:r>
                    </a:p>
                  </a:txBody>
                  <a:tcPr marL="95250" marR="95250" marT="0" marB="0">
                    <a:solidFill>
                      <a:srgbClr val="FFFFFF"/>
                    </a:solidFill>
                  </a:tcPr>
                </a:tc>
                <a:tc>
                  <a:txBody>
                    <a:bodyPr>
                      <a:noAutofit/>
                    </a:bodyPr>
                    <a:lstStyle/>
                    <a:p>
                      <a:pPr algn="ctr"/>
                      <a:r>
                        <a:rPr sz="1575" b="1">
                          <a:solidFill>
                            <a:srgbClr val="000000"/>
                          </a:solidFill>
                          <a:latin typeface="Arial"/>
                          <a:ea typeface="Arial"/>
                          <a:cs typeface="Arial"/>
                        </a:rPr>
                        <a:t>F1</a:t>
                      </a:r>
                    </a:p>
                  </a:txBody>
                  <a:tcPr marL="95250" marR="95250" marT="0" marB="0">
                    <a:solidFill>
                      <a:srgbClr val="FFFFFF"/>
                    </a:solidFill>
                  </a:tcPr>
                </a:tc>
              </a:tr>
              <a:tr h="316230">
                <a:tc>
                  <a:txBody>
                    <a:bodyPr>
                      <a:noAutofit/>
                    </a:bodyPr>
                    <a:lstStyle/>
                    <a:p>
                      <a:pPr algn="l"/>
                      <a:r>
                        <a:rPr sz="1575" b="0">
                          <a:solidFill>
                            <a:srgbClr val="000000"/>
                          </a:solidFill>
                          <a:latin typeface="Arial"/>
                          <a:ea typeface="Arial"/>
                          <a:cs typeface="Arial"/>
                        </a:rPr>
                        <a:t>First 5 seconds</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0.9200</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83.3%</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17.4%</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80.0%</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28.6%</a:t>
                      </a:r>
                    </a:p>
                  </a:txBody>
                  <a:tcPr marL="95250" marR="95250" marT="0" marB="0">
                    <a:solidFill>
                      <a:srgbClr val="FFFFFF"/>
                    </a:solidFill>
                  </a:tcPr>
                </a:tc>
              </a:tr>
              <a:tr h="316230">
                <a:tc>
                  <a:txBody>
                    <a:bodyPr>
                      <a:noAutofit/>
                    </a:bodyPr>
                    <a:lstStyle/>
                    <a:p>
                      <a:pPr algn="l"/>
                      <a:r>
                        <a:rPr sz="1575" b="0">
                          <a:solidFill>
                            <a:srgbClr val="000000"/>
                          </a:solidFill>
                          <a:latin typeface="Arial"/>
                          <a:ea typeface="Arial"/>
                          <a:cs typeface="Arial"/>
                        </a:rPr>
                        <a:t>Mean of six (30 s)</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0.9739</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95.8%</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50.0%</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80.0%</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61.5%</a:t>
                      </a:r>
                    </a:p>
                  </a:txBody>
                  <a:tcPr marL="95250" marR="95250" marT="0" marB="0">
                    <a:solidFill>
                      <a:srgbClr val="FFFFFF"/>
                    </a:solidFill>
                  </a:tcPr>
                </a:tc>
              </a:tr>
              <a:tr h="316230">
                <a:tc>
                  <a:txBody>
                    <a:bodyPr>
                      <a:noAutofit/>
                    </a:bodyPr>
                    <a:lstStyle/>
                    <a:p>
                      <a:pPr algn="l"/>
                      <a:r>
                        <a:rPr sz="1575" b="0">
                          <a:solidFill>
                            <a:srgbClr val="000000"/>
                          </a:solidFill>
                          <a:latin typeface="Arial"/>
                          <a:ea typeface="Arial"/>
                          <a:cs typeface="Arial"/>
                        </a:rPr>
                        <a:t>Majority vote (30 s)</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0.9661</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92.5%</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33.3%</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80.0%</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47.1%</a:t>
                      </a:r>
                    </a:p>
                  </a:txBody>
                  <a:tcPr marL="95250" marR="95250" marT="0" marB="0">
                    <a:solidFill>
                      <a:srgbClr val="FFFFFF"/>
                    </a:solidFill>
                  </a:tcPr>
                </a:tc>
              </a:tr>
              <a:tr h="316230">
                <a:tc>
                  <a:txBody>
                    <a:bodyPr>
                      <a:noAutofit/>
                    </a:bodyPr>
                    <a:lstStyle/>
                    <a:p>
                      <a:pPr algn="l"/>
                      <a:r>
                        <a:rPr sz="1575" b="0">
                          <a:solidFill>
                            <a:srgbClr val="000000"/>
                          </a:solidFill>
                          <a:latin typeface="Arial"/>
                          <a:ea typeface="Arial"/>
                          <a:cs typeface="Arial"/>
                        </a:rPr>
                        <a:t>Full 30-second model</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0.9983</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96.7%</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55.6%</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100.0%</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71.4%</a:t>
                      </a:r>
                    </a:p>
                  </a:txBody>
                  <a:tcPr marL="95250" marR="95250" marT="0" marB="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DB57EB5-82E8-4670-BDCA-FD5C1637E25D}"/>
              </a:ext>
            </a:extLst>
          </p:cNvPr>
          <p:cNvSpPr>
            <a:spLocks xmlns:a="http://schemas.openxmlformats.org/drawingml/2006/main" noGrp="1"/>
          </p:cNvSpPr>
          <p:nvPr/>
        </p:nvSpPr>
        <p:spPr>
          <a:xfrm xmlns:a="http://schemas.openxmlformats.org/drawingml/2006/main">
            <a:off x="609600" y="61055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000000"/>
                </a:solidFill>
                <a:latin typeface="Arial"/>
                <a:ea typeface="Arial"/>
                <a:cs typeface="Arial"/>
              </a:defRPr>
            </a:pPr>
            <a:r>
              <a:rPr sz="1350" b="0">
                <a:solidFill>
                  <a:srgbClr val="000000"/>
                </a:solidFill>
                <a:latin typeface="Arial"/>
                <a:ea typeface="Arial"/>
                <a:cs typeface="Arial"/>
              </a:rPr>
              <a:t>Test results for the same 120 patients. Averaging and voting still require 30 seconds of signal.</a:t>
            </a:r>
          </a:p>
          <a:p xmlns:a="http://schemas.openxmlformats.org/drawingml/2006/main">
            <a:pPr>
              <a:defRPr sz="1350" b="0">
                <a:solidFill>
                  <a:srgbClr val="000000"/>
                </a:solidFill>
                <a:latin typeface="Arial"/>
                <a:ea typeface="Arial"/>
                <a:cs typeface="Arial"/>
              </a:defRPr>
            </a:pPr>
            <a:r>
              <a:rPr sz="1350" b="0">
                <a:solidFill>
                  <a:srgbClr val="000000"/>
                </a:solidFill>
                <a:latin typeface="Arial"/>
                <a:ea typeface="Arial"/>
                <a:cs typeface="Arial"/>
              </a:rPr>
              <a:t>Thresholds were selected on validation. Mean scores break voting ties. Precision, recall and F1 are for HFrEF.</a:t>
            </a:r>
          </a:p>
        </p:txBody>
      </p:sp>
    </p:spTree>
    <p:extLst>
      <p:ext uri="{BB962C8B-B14F-4D97-AF65-F5344CB8AC3E}">
        <p14:creationId xmlns:p14="http://schemas.microsoft.com/office/powerpoint/2010/main" val="10782925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2026-09-06T15:09:35.4030000Z</dcterms:created>
  <dcterms:modified xsi:type="dcterms:W3CDTF">2026-09-06T15:09:35.4030000Z</dcterms:modified>
</coreProperties>
</file>