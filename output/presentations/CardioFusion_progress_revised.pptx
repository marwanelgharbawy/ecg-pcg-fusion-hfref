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6d1bfb8fa4440a" /><Relationship Type="http://schemas.openxmlformats.org/officeDocument/2006/relationships/extended-properties" Target="/docProps/app.xml" Id="R2712873dcab44275" /><Relationship Type="http://schemas.openxmlformats.org/officeDocument/2006/relationships/officeDocument" Target="/ppt/presentation.xml" Id="R9d9b1d5a34254601" /></Relationships>
</file>

<file path=ppt/presentation.xml><?xml version="1.0" encoding="utf-8"?>
<p:presentation xmlns:p="http://schemas.openxmlformats.org/presentationml/2006/main">
  <p:sldMasterIdLst>
    <p:sldMasterId xmlns:r="http://schemas.openxmlformats.org/officeDocument/2006/relationships" id="2147483648" r:id="Re1f062dda0804547"/>
  </p:sldMasterIdLst>
  <p:notesMasterIdLst>
    <p:notesMasterId xmlns:r="http://schemas.openxmlformats.org/officeDocument/2006/relationships" r:id="R9d92ab46006c448a"/>
  </p:notesMasterIdLst>
  <p:sldIdLst>
    <p:sldId xmlns:r="http://schemas.openxmlformats.org/officeDocument/2006/relationships" id="256" r:id="R47e2925ffce847cd"/>
    <p:sldId xmlns:r="http://schemas.openxmlformats.org/officeDocument/2006/relationships" id="257" r:id="Rc72e82ce3cb84a27"/>
    <p:sldId xmlns:r="http://schemas.openxmlformats.org/officeDocument/2006/relationships" id="258" r:id="Rc2d95ea22bf04aaa"/>
    <p:sldId xmlns:r="http://schemas.openxmlformats.org/officeDocument/2006/relationships" id="259" r:id="Rc787f77c930347ce"/>
    <p:sldId xmlns:r="http://schemas.openxmlformats.org/officeDocument/2006/relationships" id="260" r:id="R15db0d1601844888"/>
    <p:sldId xmlns:r="http://schemas.openxmlformats.org/officeDocument/2006/relationships" id="261" r:id="Rff8803020f8c443e"/>
    <p:sldId xmlns:r="http://schemas.openxmlformats.org/officeDocument/2006/relationships" id="262" r:id="Rb7e1f29b04064b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c988c6a87e4e58" /><Relationship Type="http://schemas.openxmlformats.org/officeDocument/2006/relationships/slideMaster" Target="/ppt/slideMasters/slideMaster1.xml" Id="Re1f062dda0804547" /><Relationship Type="http://schemas.openxmlformats.org/officeDocument/2006/relationships/notesMaster" Target="/ppt/notesMasters/notesMaster1.xml" Id="R9d92ab46006c448a" /><Relationship Type="http://schemas.openxmlformats.org/officeDocument/2006/relationships/presProps" Target="/ppt/presProps.xml" Id="R7f4948cd7535440c" /><Relationship Type="http://schemas.openxmlformats.org/officeDocument/2006/relationships/tableStyles" Target="/ppt/tableStyles.xml" Id="R0121f7b83dbd4113" /><Relationship Type="http://schemas.openxmlformats.org/officeDocument/2006/relationships/slide" Target="/ppt/slides/slide1.xml" Id="R47e2925ffce847cd" /><Relationship Type="http://schemas.openxmlformats.org/officeDocument/2006/relationships/slide" Target="/ppt/slides/slide2.xml" Id="Rc72e82ce3cb84a27" /><Relationship Type="http://schemas.openxmlformats.org/officeDocument/2006/relationships/slide" Target="/ppt/slides/slide3.xml" Id="Rc2d95ea22bf04aaa" /><Relationship Type="http://schemas.openxmlformats.org/officeDocument/2006/relationships/slide" Target="/ppt/slides/slide4.xml" Id="Rc787f77c930347ce" /><Relationship Type="http://schemas.openxmlformats.org/officeDocument/2006/relationships/slide" Target="/ppt/slides/slide5.xml" Id="R15db0d1601844888" /><Relationship Type="http://schemas.openxmlformats.org/officeDocument/2006/relationships/slide" Target="/ppt/slides/slide6.xml" Id="Rff8803020f8c443e" /><Relationship Type="http://schemas.openxmlformats.org/officeDocument/2006/relationships/slide" Target="/ppt/slides/slide7.xml" Id="Rb7e1f29b04064b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bceb9aa18e4d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e27690d3224d4f" /><Relationship Type="http://schemas.openxmlformats.org/officeDocument/2006/relationships/notesMaster" Target="/ppt/notesMasters/notesMaster1.xml" Id="R489bf4b59cef48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7a4dcc413e495b" /><Relationship Type="http://schemas.openxmlformats.org/officeDocument/2006/relationships/notesMaster" Target="/ppt/notesMasters/notesMaster1.xml" Id="Ra8da53e090b549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37f491a98a4d09" /><Relationship Type="http://schemas.openxmlformats.org/officeDocument/2006/relationships/notesMaster" Target="/ppt/notesMasters/notesMaster1.xml" Id="R283cb1ea8b994d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d6ec5f4d264494" /><Relationship Type="http://schemas.openxmlformats.org/officeDocument/2006/relationships/notesMaster" Target="/ppt/notesMasters/notesMaster1.xml" Id="R9c091f2b55ba47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4f99a21dca40a8" /><Relationship Type="http://schemas.openxmlformats.org/officeDocument/2006/relationships/notesMaster" Target="/ppt/notesMasters/notesMaster1.xml" Id="R7aa211631cde47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b4b301ccee425d" /><Relationship Type="http://schemas.openxmlformats.org/officeDocument/2006/relationships/notesMaster" Target="/ppt/notesMasters/notesMaster1.xml" Id="Ra20f36cc371643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ba41abe9af4919" /><Relationship Type="http://schemas.openxmlformats.org/officeDocument/2006/relationships/notesMaster" Target="/ppt/notesMasters/notesMaster1.xml" Id="R734b6d871b3a41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presentation. The ECG encoder predicts HFrEF. Four channels here means the four site recordings grouped for one patient: APEX, LLSB, LUSB and RUSB.</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1. AUROC validation 0.6858, test 0.7921. Weighted BCE, 10 epochs. Validation counts TN=1319 FP=751 FN=118 TP=212. Test counts TN=1802 FP=958 FN=27 TP=93. Positive-class F1 is 0.3279196 validation and 0.1588386 test. Metrics are calculated from the counts, with AUROC from notebook outputs. Segment counts are not independent patient counts. The legacy split and unit differ from the later patient split, so the comparison is historical rather than a controlled ablation.</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Changes leading to experiment 3: group the four site recordings by patient ID in a fixed channel order; stack four complete 30-second ECG recordings as a single 4 x 15000 input; update the encoder input channels from 1 to 4; use residual convolution blocks and global average/max pooling; keep each patient within one data split. This is a summary of implementation changes, not an isolated causal claim about the contribution of each change.</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3. Preprocessing stacks 4 x 15000 ECG samples in a fixed site order. Per-channel filtering and z-score normalization remain. Input channels changed from 1 to 4; residual convolution blocks and global average/max pooling replaced the older small CNN. A patient-based fold split prevents a patient from spanning training and validation. The proposed mechanism is more patient context and a richer encoder, but no ablation isolates which change caused the gain. Validation cutoff .5117487311, TN80 FP8 FN1 TP11. Test TN111 FP4 FN0 TP5. Only 5 positive test patients, so one case changes recall by 20 percentage points. Site labels identify recording sites and are not a claim that these are four standard simultaneous ECG leads.</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4. Fresh weights with the same four-channel architecture, not a reshape of the trained 30-second model. Adaptive pooling accepts the shorter input. Raw windows are cropped before filtering and normalization to avoid using later samples in the first-window prediction. Each 30-second record produces 6 non-overlapping five-second windows; incomplete final windows are discarded. Splits are made by patient before windows. Training has 400 patients and 2400 windows. Threshold for single windows .41620755 is selected on validation. First five seconds: validation TP10 FN2 FP11 TN77, test TP4 FN1 FP19 TN96. Lower recording requirement does not establish a measured inference-speed improvement.</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Window-position results are descriptive test analysis, not a basis for choosing a preferred window using test performance. All use a frozen single-window threshold .41620755. Overall agreement is 96/120=80%, including 92 negatives and 4 positives. Agreement does not equal correctness: 5 negative patients are incorrectly positive in all windows. One positive patient is negative in windows 0,1,2 and positive in 3,4,5. The graph plots positive-class F1 with a common 0 to 1 scale. No claim that later windows are universally better.</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ROC curves reconstructed from saved patient probabilities. Trapezoidal areas independently verified: .9982608695652174 full30, .92 first5, .9739130434782609 mean6. Native chart data retains every ROC point including ties. Mean6 threshold .546824038; majority uses the single-window threshold and mean6 threshold to break 3–3 ties. Mean6 test TP4 FN1 FP4 TN111; majority TP4 FN1 FP8 TN107; full30 TP5 FN0 FP4 TN111. Improvement in thresholded metrics reflects aggregation and separately validation-selected thresholds, not averaging alone. A 12-second input yields two full windows and discards the final two seconds. Next steps: assess all patient folds and additional seeds, estimate uncertainty with more positive patients, and run matched one-vs-four-channel ablations to separate input grouping from network changes.</a:t>
            </a:r>
          </a:p>
          <a:p xmlns:a="http://schemas.openxmlformats.org/drawingml/2006/main">
            <a:r>
              <a:t/>
            </a:r>
          </a:p>
          <a:p xmlns:a="http://schemas.openxmlformats.org/drawingml/2006/main">
            <a:r>
              <a:t>Sources: Untitled document.pdf, pp. 1–6; git 82be782 and 016cfc2, notebooks/2_ecg_baseline.ipynb; current notebooks/2_ecg_baseline.ipynb and notebooks/3_ecg_5second_segments.ipynb; models/ecg_5s/fold0_seed42/comparison.csv. All values are saved experimental results, not clinical performance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231b13cfa84d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8b2905af0c47c4" /><Relationship Type="http://schemas.openxmlformats.org/officeDocument/2006/relationships/slideLayout" Target="/ppt/slideLayouts/slideLayout1.xml" Id="Ra007b677977b4b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07b677977b4b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b259983694e19" /><Relationship Type="http://schemas.openxmlformats.org/officeDocument/2006/relationships/notesSlide" Target="/ppt/notesSlides/notesSlide1.xml" Id="Rad2492db846544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dd5d6a3f40488f" /><Relationship Type="http://schemas.openxmlformats.org/officeDocument/2006/relationships/notesSlide" Target="/ppt/notesSlides/notesSlide2.xml" Id="R63f8d040b82a41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8ae44817ff47a5" /><Relationship Type="http://schemas.openxmlformats.org/officeDocument/2006/relationships/notesSlide" Target="/ppt/notesSlides/notesSlide3.xml" Id="Rd72f5b16330c4e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31961884c54e08" /><Relationship Type="http://schemas.openxmlformats.org/officeDocument/2006/relationships/notesSlide" Target="/ppt/notesSlides/notesSlide4.xml" Id="R10eb083071a64b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7cc8f22c9245de" /><Relationship Type="http://schemas.openxmlformats.org/officeDocument/2006/relationships/notesSlide" Target="/ppt/notesSlides/notesSlide5.xml" Id="R0c48a629ba8742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7f37484897428d" /><Relationship Type="http://schemas.openxmlformats.org/officeDocument/2006/relationships/chart" Target="/ppt/slides/charts/chart1.xml" Id="R90c2ff52c69d4b96" /><Relationship Type="http://schemas.openxmlformats.org/officeDocument/2006/relationships/notesSlide" Target="/ppt/notesSlides/notesSlide6.xml" Id="R43183456da404f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5b427ea1504281" /><Relationship Type="http://schemas.openxmlformats.org/officeDocument/2006/relationships/chart" Target="/ppt/slides/charts/chart2.xml" Id="R6b72f0b2be814183" /><Relationship Type="http://schemas.openxmlformats.org/officeDocument/2006/relationships/notesSlide" Target="/ppt/notesSlides/notesSlide7.xml" Id="R0558fead6bd941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HFrEF F1</c:v>
          </c:tx>
          <c:spPr>
            <a:ln xmlns:a="http://schemas.openxmlformats.org/drawingml/2006/main" w="28575">
              <a:solidFill>
                <a:srgbClr val="000000"/>
              </a:solidFill>
              <a:prstDash val="solid"/>
            </a:ln>
          </c:spPr>
          <c:marker>
            <c:symbol val="circle"/>
            <c:size val="6"/>
            <c:spPr>
              <a:solidFill xmlns:a="http://schemas.openxmlformats.org/drawingml/2006/main">
                <a:srgbClr val="000000"/>
              </a:solidFill>
            </c:spPr>
          </c:marker>
          <c:cat>
            <c:strRef>
              <c:f>'Chart Data'!$A$2:$A$7</c:f>
              <c:strCache>
                <c:ptCount val="6"/>
                <c:pt idx="0">
                  <c:v>0–5</c:v>
                </c:pt>
                <c:pt idx="1">
                  <c:v>5–10</c:v>
                </c:pt>
                <c:pt idx="2">
                  <c:v>10–15</c:v>
                </c:pt>
                <c:pt idx="3">
                  <c:v>15–20</c:v>
                </c:pt>
                <c:pt idx="4">
                  <c:v>20–25</c:v>
                </c:pt>
                <c:pt idx="5">
                  <c:v>25–30</c:v>
                </c:pt>
              </c:strCache>
            </c:strRef>
          </c:cat>
          <c:val>
            <c:numRef>
              <c:f>'Chart Data'!$B$2:$B$7</c:f>
              <c:numCache>
                <c:formatCode>0%</c:formatCode>
                <c:ptCount val="6"/>
                <c:pt idx="0">
                  <c:v>0.285714285714</c:v>
                </c:pt>
                <c:pt idx="1">
                  <c:v>0.4</c:v>
                </c:pt>
                <c:pt idx="2">
                  <c:v>0.380952380952</c:v>
                </c:pt>
                <c:pt idx="3">
                  <c:v>0.416666666667</c:v>
                </c:pt>
                <c:pt idx="4">
                  <c:v>0.47619047619</c:v>
                </c:pt>
                <c:pt idx="5">
                  <c:v>0.526315789474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Window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28575">
            <a:solidFill>
              <a:srgbClr val="B0B0B0"/>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0D0D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Full 30 s</c:v>
          </c:tx>
          <c:spPr>
            <a:ln xmlns:a="http://schemas.openxmlformats.org/drawingml/2006/main" w="28575">
              <a:solidFill>
                <a:srgbClr val="000000"/>
              </a:solidFill>
              <a:prstDash val="solid"/>
            </a:ln>
          </c:spPr>
          <c:marker>
            <c:symbol val="none"/>
          </c:marker>
          <c:xVal>
            <c:numRef>
              <c:f>'Chart Data'!$A$2:$A$122</c:f>
              <c:numCache>
                <c:formatCode>General</c:formatCode>
                <c:ptCount val="121"/>
                <c:pt idx="0">
                  <c:v>0</c:v>
                </c:pt>
                <c:pt idx="1">
                  <c:v>0</c:v>
                </c:pt>
                <c:pt idx="2">
                  <c:v>0</c:v>
                </c:pt>
                <c:pt idx="3">
                  <c:v>0</c:v>
                </c:pt>
                <c:pt idx="4">
                  <c:v>0</c:v>
                </c:pt>
                <c:pt idx="5">
                  <c:v>0.008695652174</c:v>
                </c:pt>
                <c:pt idx="6">
                  <c:v>0.008695652174</c:v>
                </c:pt>
                <c:pt idx="7">
                  <c:v>0.017391304348</c:v>
                </c:pt>
                <c:pt idx="8">
                  <c:v>0.026086956522</c:v>
                </c:pt>
                <c:pt idx="9">
                  <c:v>0.034782608696</c:v>
                </c:pt>
                <c:pt idx="10">
                  <c:v>0.04347826087</c:v>
                </c:pt>
                <c:pt idx="11">
                  <c:v>0.052173913043</c:v>
                </c:pt>
                <c:pt idx="12">
                  <c:v>0.060869565217</c:v>
                </c:pt>
                <c:pt idx="13">
                  <c:v>0.069565217391</c:v>
                </c:pt>
                <c:pt idx="14">
                  <c:v>0.078260869565</c:v>
                </c:pt>
                <c:pt idx="15">
                  <c:v>0.086956521739</c:v>
                </c:pt>
                <c:pt idx="16">
                  <c:v>0.095652173913</c:v>
                </c:pt>
                <c:pt idx="17">
                  <c:v>0.104347826087</c:v>
                </c:pt>
                <c:pt idx="18">
                  <c:v>0.113043478261</c:v>
                </c:pt>
                <c:pt idx="19">
                  <c:v>0.121739130435</c:v>
                </c:pt>
                <c:pt idx="20">
                  <c:v>0.130434782609</c:v>
                </c:pt>
                <c:pt idx="21">
                  <c:v>0.139130434783</c:v>
                </c:pt>
                <c:pt idx="22">
                  <c:v>0.147826086957</c:v>
                </c:pt>
                <c:pt idx="23">
                  <c:v>0.15652173913</c:v>
                </c:pt>
                <c:pt idx="24">
                  <c:v>0.165217391304</c:v>
                </c:pt>
                <c:pt idx="25">
                  <c:v>0.173913043478</c:v>
                </c:pt>
                <c:pt idx="26">
                  <c:v>0.182608695652</c:v>
                </c:pt>
                <c:pt idx="27">
                  <c:v>0.191304347826</c:v>
                </c:pt>
                <c:pt idx="28">
                  <c:v>0.2</c:v>
                </c:pt>
                <c:pt idx="29">
                  <c:v>0.208695652174</c:v>
                </c:pt>
                <c:pt idx="30">
                  <c:v>0.217391304348</c:v>
                </c:pt>
                <c:pt idx="31">
                  <c:v>0.226086956522</c:v>
                </c:pt>
                <c:pt idx="32">
                  <c:v>0.234782608696</c:v>
                </c:pt>
                <c:pt idx="33">
                  <c:v>0.24347826087</c:v>
                </c:pt>
                <c:pt idx="34">
                  <c:v>0.252173913043</c:v>
                </c:pt>
                <c:pt idx="35">
                  <c:v>0.260869565217</c:v>
                </c:pt>
                <c:pt idx="36">
                  <c:v>0.269565217391</c:v>
                </c:pt>
                <c:pt idx="37">
                  <c:v>0.278260869565</c:v>
                </c:pt>
                <c:pt idx="38">
                  <c:v>0.286956521739</c:v>
                </c:pt>
                <c:pt idx="39">
                  <c:v>0.295652173913</c:v>
                </c:pt>
                <c:pt idx="40">
                  <c:v>0.304347826087</c:v>
                </c:pt>
                <c:pt idx="41">
                  <c:v>0.313043478261</c:v>
                </c:pt>
                <c:pt idx="42">
                  <c:v>0.321739130435</c:v>
                </c:pt>
                <c:pt idx="43">
                  <c:v>0.330434782609</c:v>
                </c:pt>
                <c:pt idx="44">
                  <c:v>0.339130434783</c:v>
                </c:pt>
                <c:pt idx="45">
                  <c:v>0.347826086957</c:v>
                </c:pt>
                <c:pt idx="46">
                  <c:v>0.35652173913</c:v>
                </c:pt>
                <c:pt idx="47">
                  <c:v>0.365217391304</c:v>
                </c:pt>
                <c:pt idx="48">
                  <c:v>0.373913043478</c:v>
                </c:pt>
                <c:pt idx="49">
                  <c:v>0.382608695652</c:v>
                </c:pt>
                <c:pt idx="50">
                  <c:v>0.391304347826</c:v>
                </c:pt>
                <c:pt idx="51">
                  <c:v>0.4</c:v>
                </c:pt>
                <c:pt idx="52">
                  <c:v>0.408695652174</c:v>
                </c:pt>
                <c:pt idx="53">
                  <c:v>0.417391304348</c:v>
                </c:pt>
                <c:pt idx="54">
                  <c:v>0.426086956522</c:v>
                </c:pt>
                <c:pt idx="55">
                  <c:v>0.434782608696</c:v>
                </c:pt>
                <c:pt idx="56">
                  <c:v>0.44347826087</c:v>
                </c:pt>
                <c:pt idx="57">
                  <c:v>0.452173913043</c:v>
                </c:pt>
                <c:pt idx="58">
                  <c:v>0.460869565217</c:v>
                </c:pt>
                <c:pt idx="59">
                  <c:v>0.469565217391</c:v>
                </c:pt>
                <c:pt idx="60">
                  <c:v>0.478260869565</c:v>
                </c:pt>
                <c:pt idx="61">
                  <c:v>0.486956521739</c:v>
                </c:pt>
                <c:pt idx="62">
                  <c:v>0.495652173913</c:v>
                </c:pt>
                <c:pt idx="63">
                  <c:v>0.504347826087</c:v>
                </c:pt>
                <c:pt idx="64">
                  <c:v>0.513043478261</c:v>
                </c:pt>
                <c:pt idx="65">
                  <c:v>0.521739130435</c:v>
                </c:pt>
                <c:pt idx="66">
                  <c:v>0.530434782609</c:v>
                </c:pt>
                <c:pt idx="67">
                  <c:v>0.539130434783</c:v>
                </c:pt>
                <c:pt idx="68">
                  <c:v>0.547826086957</c:v>
                </c:pt>
                <c:pt idx="69">
                  <c:v>0.55652173913</c:v>
                </c:pt>
                <c:pt idx="70">
                  <c:v>0.565217391304</c:v>
                </c:pt>
                <c:pt idx="71">
                  <c:v>0.573913043478</c:v>
                </c:pt>
                <c:pt idx="72">
                  <c:v>0.582608695652</c:v>
                </c:pt>
                <c:pt idx="73">
                  <c:v>0.591304347826</c:v>
                </c:pt>
                <c:pt idx="74">
                  <c:v>0.6</c:v>
                </c:pt>
                <c:pt idx="75">
                  <c:v>0.608695652174</c:v>
                </c:pt>
                <c:pt idx="76">
                  <c:v>0.617391304348</c:v>
                </c:pt>
                <c:pt idx="77">
                  <c:v>0.626086956522</c:v>
                </c:pt>
                <c:pt idx="78">
                  <c:v>0.634782608696</c:v>
                </c:pt>
                <c:pt idx="79">
                  <c:v>0.64347826087</c:v>
                </c:pt>
                <c:pt idx="80">
                  <c:v>0.652173913043</c:v>
                </c:pt>
                <c:pt idx="81">
                  <c:v>0.660869565217</c:v>
                </c:pt>
                <c:pt idx="82">
                  <c:v>0.669565217391</c:v>
                </c:pt>
                <c:pt idx="83">
                  <c:v>0.678260869565</c:v>
                </c:pt>
                <c:pt idx="84">
                  <c:v>0.686956521739</c:v>
                </c:pt>
                <c:pt idx="85">
                  <c:v>0.695652173913</c:v>
                </c:pt>
                <c:pt idx="86">
                  <c:v>0.704347826087</c:v>
                </c:pt>
                <c:pt idx="87">
                  <c:v>0.713043478261</c:v>
                </c:pt>
                <c:pt idx="88">
                  <c:v>0.721739130435</c:v>
                </c:pt>
                <c:pt idx="89">
                  <c:v>0.730434782609</c:v>
                </c:pt>
                <c:pt idx="90">
                  <c:v>0.739130434783</c:v>
                </c:pt>
                <c:pt idx="91">
                  <c:v>0.747826086957</c:v>
                </c:pt>
                <c:pt idx="92">
                  <c:v>0.75652173913</c:v>
                </c:pt>
                <c:pt idx="93">
                  <c:v>0.765217391304</c:v>
                </c:pt>
                <c:pt idx="94">
                  <c:v>0.773913043478</c:v>
                </c:pt>
                <c:pt idx="95">
                  <c:v>0.782608695652</c:v>
                </c:pt>
                <c:pt idx="96">
                  <c:v>0.791304347826</c:v>
                </c:pt>
                <c:pt idx="97">
                  <c:v>0.8</c:v>
                </c:pt>
                <c:pt idx="98">
                  <c:v>0.808695652174</c:v>
                </c:pt>
                <c:pt idx="99">
                  <c:v>0.817391304348</c:v>
                </c:pt>
                <c:pt idx="100">
                  <c:v>0.826086956522</c:v>
                </c:pt>
                <c:pt idx="101">
                  <c:v>0.834782608696</c:v>
                </c:pt>
                <c:pt idx="102">
                  <c:v>0.84347826087</c:v>
                </c:pt>
                <c:pt idx="103">
                  <c:v>0.852173913043</c:v>
                </c:pt>
                <c:pt idx="104">
                  <c:v>0.860869565217</c:v>
                </c:pt>
                <c:pt idx="105">
                  <c:v>0.869565217391</c:v>
                </c:pt>
                <c:pt idx="106">
                  <c:v>0.878260869565</c:v>
                </c:pt>
                <c:pt idx="107">
                  <c:v>0.886956521739</c:v>
                </c:pt>
                <c:pt idx="108">
                  <c:v>0.895652173913</c:v>
                </c:pt>
                <c:pt idx="109">
                  <c:v>0.904347826087</c:v>
                </c:pt>
                <c:pt idx="110">
                  <c:v>0.913043478261</c:v>
                </c:pt>
                <c:pt idx="111">
                  <c:v>0.921739130435</c:v>
                </c:pt>
                <c:pt idx="112">
                  <c:v>0.930434782609</c:v>
                </c:pt>
                <c:pt idx="113">
                  <c:v>0.939130434783</c:v>
                </c:pt>
                <c:pt idx="114">
                  <c:v>0.947826086957</c:v>
                </c:pt>
                <c:pt idx="115">
                  <c:v>0.95652173913</c:v>
                </c:pt>
                <c:pt idx="116">
                  <c:v>0.965217391304</c:v>
                </c:pt>
                <c:pt idx="117">
                  <c:v>0.973913043478</c:v>
                </c:pt>
                <c:pt idx="118">
                  <c:v>0.982608695652</c:v>
                </c:pt>
                <c:pt idx="119">
                  <c:v>0.991304347826</c:v>
                </c:pt>
                <c:pt idx="120">
                  <c:v>1</c:v>
                </c:pt>
              </c:numCache>
            </c:numRef>
          </c:xVal>
          <c:yVal>
            <c:numRef>
              <c:f>'Chart Data'!$B$2:$B$122</c:f>
              <c:numCache>
                <c:formatCode>0.0</c:formatCode>
                <c:ptCount val="121"/>
                <c:pt idx="0">
                  <c:v>0</c:v>
                </c:pt>
                <c:pt idx="1">
                  <c:v>0.2</c:v>
                </c:pt>
                <c:pt idx="2">
                  <c:v>0.4</c:v>
                </c:pt>
                <c:pt idx="3">
                  <c:v>0.6</c:v>
                </c:pt>
                <c:pt idx="4">
                  <c:v>0.8</c:v>
                </c:pt>
                <c:pt idx="5">
                  <c:v>0.8</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er>
        <c:ser>
          <c:idx val="1"/>
          <c:order val="1"/>
          <c:tx>
            <c:v>First 5 s</c:v>
          </c:tx>
          <c:spPr>
            <a:ln xmlns:a="http://schemas.openxmlformats.org/drawingml/2006/main" w="28575">
              <a:solidFill>
                <a:srgbClr val="999999"/>
              </a:solidFill>
              <a:prstDash val="dash"/>
            </a:ln>
          </c:spPr>
          <c:marker>
            <c:symbol val="none"/>
          </c:marker>
          <c:xVal>
            <c:numRef>
              <c:f>'Chart Data'!$C$2:$C$122</c:f>
              <c:numCache>
                <c:formatCode>General</c:formatCode>
                <c:ptCount val="121"/>
                <c:pt idx="0">
                  <c:v>0</c:v>
                </c:pt>
                <c:pt idx="1">
                  <c:v>0.008695652174</c:v>
                </c:pt>
                <c:pt idx="2">
                  <c:v>0.008695652174</c:v>
                </c:pt>
                <c:pt idx="3">
                  <c:v>0.008695652174</c:v>
                </c:pt>
                <c:pt idx="4">
                  <c:v>0.017391304348</c:v>
                </c:pt>
                <c:pt idx="5">
                  <c:v>0.017391304348</c:v>
                </c:pt>
                <c:pt idx="6">
                  <c:v>0.026086956522</c:v>
                </c:pt>
                <c:pt idx="7">
                  <c:v>0.034782608696</c:v>
                </c:pt>
                <c:pt idx="8">
                  <c:v>0.04347826087</c:v>
                </c:pt>
                <c:pt idx="9">
                  <c:v>0.04347826087</c:v>
                </c:pt>
                <c:pt idx="10">
                  <c:v>0.052173913043</c:v>
                </c:pt>
                <c:pt idx="11">
                  <c:v>0.060869565217</c:v>
                </c:pt>
                <c:pt idx="12">
                  <c:v>0.069565217391</c:v>
                </c:pt>
                <c:pt idx="13">
                  <c:v>0.078260869565</c:v>
                </c:pt>
                <c:pt idx="14">
                  <c:v>0.086956521739</c:v>
                </c:pt>
                <c:pt idx="15">
                  <c:v>0.095652173913</c:v>
                </c:pt>
                <c:pt idx="16">
                  <c:v>0.104347826087</c:v>
                </c:pt>
                <c:pt idx="17">
                  <c:v>0.113043478261</c:v>
                </c:pt>
                <c:pt idx="18">
                  <c:v>0.121739130435</c:v>
                </c:pt>
                <c:pt idx="19">
                  <c:v>0.130434782609</c:v>
                </c:pt>
                <c:pt idx="20">
                  <c:v>0.139130434783</c:v>
                </c:pt>
                <c:pt idx="21">
                  <c:v>0.147826086957</c:v>
                </c:pt>
                <c:pt idx="22">
                  <c:v>0.15652173913</c:v>
                </c:pt>
                <c:pt idx="23">
                  <c:v>0.165217391304</c:v>
                </c:pt>
                <c:pt idx="24">
                  <c:v>0.173913043478</c:v>
                </c:pt>
                <c:pt idx="25">
                  <c:v>0.182608695652</c:v>
                </c:pt>
                <c:pt idx="26">
                  <c:v>0.191304347826</c:v>
                </c:pt>
                <c:pt idx="27">
                  <c:v>0.2</c:v>
                </c:pt>
                <c:pt idx="28">
                  <c:v>0.208695652174</c:v>
                </c:pt>
                <c:pt idx="29">
                  <c:v>0.217391304348</c:v>
                </c:pt>
                <c:pt idx="30">
                  <c:v>0.226086956522</c:v>
                </c:pt>
                <c:pt idx="31">
                  <c:v>0.234782608696</c:v>
                </c:pt>
                <c:pt idx="32">
                  <c:v>0.24347826087</c:v>
                </c:pt>
                <c:pt idx="33">
                  <c:v>0.252173913043</c:v>
                </c:pt>
                <c:pt idx="34">
                  <c:v>0.260869565217</c:v>
                </c:pt>
                <c:pt idx="35">
                  <c:v>0.269565217391</c:v>
                </c:pt>
                <c:pt idx="36">
                  <c:v>0.278260869565</c:v>
                </c:pt>
                <c:pt idx="37">
                  <c:v>0.286956521739</c:v>
                </c:pt>
                <c:pt idx="38">
                  <c:v>0.295652173913</c:v>
                </c:pt>
                <c:pt idx="39">
                  <c:v>0.304347826087</c:v>
                </c:pt>
                <c:pt idx="40">
                  <c:v>0.313043478261</c:v>
                </c:pt>
                <c:pt idx="41">
                  <c:v>0.321739130435</c:v>
                </c:pt>
                <c:pt idx="42">
                  <c:v>0.321739130435</c:v>
                </c:pt>
                <c:pt idx="43">
                  <c:v>0.330434782609</c:v>
                </c:pt>
                <c:pt idx="44">
                  <c:v>0.339130434783</c:v>
                </c:pt>
                <c:pt idx="45">
                  <c:v>0.347826086957</c:v>
                </c:pt>
                <c:pt idx="46">
                  <c:v>0.35652173913</c:v>
                </c:pt>
                <c:pt idx="47">
                  <c:v>0.365217391304</c:v>
                </c:pt>
                <c:pt idx="48">
                  <c:v>0.373913043478</c:v>
                </c:pt>
                <c:pt idx="49">
                  <c:v>0.382608695652</c:v>
                </c:pt>
                <c:pt idx="50">
                  <c:v>0.391304347826</c:v>
                </c:pt>
                <c:pt idx="51">
                  <c:v>0.4</c:v>
                </c:pt>
                <c:pt idx="52">
                  <c:v>0.408695652174</c:v>
                </c:pt>
                <c:pt idx="53">
                  <c:v>0.417391304348</c:v>
                </c:pt>
                <c:pt idx="54">
                  <c:v>0.426086956522</c:v>
                </c:pt>
                <c:pt idx="55">
                  <c:v>0.434782608696</c:v>
                </c:pt>
                <c:pt idx="56">
                  <c:v>0.44347826087</c:v>
                </c:pt>
                <c:pt idx="57">
                  <c:v>0.452173913043</c:v>
                </c:pt>
                <c:pt idx="58">
                  <c:v>0.460869565217</c:v>
                </c:pt>
                <c:pt idx="59">
                  <c:v>0.469565217391</c:v>
                </c:pt>
                <c:pt idx="60">
                  <c:v>0.478260869565</c:v>
                </c:pt>
                <c:pt idx="61">
                  <c:v>0.486956521739</c:v>
                </c:pt>
                <c:pt idx="62">
                  <c:v>0.495652173913</c:v>
                </c:pt>
                <c:pt idx="63">
                  <c:v>0.504347826087</c:v>
                </c:pt>
                <c:pt idx="64">
                  <c:v>0.513043478261</c:v>
                </c:pt>
                <c:pt idx="65">
                  <c:v>0.521739130435</c:v>
                </c:pt>
                <c:pt idx="66">
                  <c:v>0.530434782609</c:v>
                </c:pt>
                <c:pt idx="67">
                  <c:v>0.539130434783</c:v>
                </c:pt>
                <c:pt idx="68">
                  <c:v>0.547826086957</c:v>
                </c:pt>
                <c:pt idx="69">
                  <c:v>0.55652173913</c:v>
                </c:pt>
                <c:pt idx="70">
                  <c:v>0.565217391304</c:v>
                </c:pt>
                <c:pt idx="71">
                  <c:v>0.573913043478</c:v>
                </c:pt>
                <c:pt idx="72">
                  <c:v>0.582608695652</c:v>
                </c:pt>
                <c:pt idx="73">
                  <c:v>0.591304347826</c:v>
                </c:pt>
                <c:pt idx="74">
                  <c:v>0.6</c:v>
                </c:pt>
                <c:pt idx="75">
                  <c:v>0.608695652174</c:v>
                </c:pt>
                <c:pt idx="76">
                  <c:v>0.617391304348</c:v>
                </c:pt>
                <c:pt idx="77">
                  <c:v>0.626086956522</c:v>
                </c:pt>
                <c:pt idx="78">
                  <c:v>0.634782608696</c:v>
                </c:pt>
                <c:pt idx="79">
                  <c:v>0.64347826087</c:v>
                </c:pt>
                <c:pt idx="80">
                  <c:v>0.652173913043</c:v>
                </c:pt>
                <c:pt idx="81">
                  <c:v>0.660869565217</c:v>
                </c:pt>
                <c:pt idx="82">
                  <c:v>0.669565217391</c:v>
                </c:pt>
                <c:pt idx="83">
                  <c:v>0.678260869565</c:v>
                </c:pt>
                <c:pt idx="84">
                  <c:v>0.686956521739</c:v>
                </c:pt>
                <c:pt idx="85">
                  <c:v>0.695652173913</c:v>
                </c:pt>
                <c:pt idx="86">
                  <c:v>0.704347826087</c:v>
                </c:pt>
                <c:pt idx="87">
                  <c:v>0.713043478261</c:v>
                </c:pt>
                <c:pt idx="88">
                  <c:v>0.721739130435</c:v>
                </c:pt>
                <c:pt idx="89">
                  <c:v>0.730434782609</c:v>
                </c:pt>
                <c:pt idx="90">
                  <c:v>0.739130434783</c:v>
                </c:pt>
                <c:pt idx="91">
                  <c:v>0.747826086957</c:v>
                </c:pt>
                <c:pt idx="92">
                  <c:v>0.75652173913</c:v>
                </c:pt>
                <c:pt idx="93">
                  <c:v>0.765217391304</c:v>
                </c:pt>
                <c:pt idx="94">
                  <c:v>0.773913043478</c:v>
                </c:pt>
                <c:pt idx="95">
                  <c:v>0.782608695652</c:v>
                </c:pt>
                <c:pt idx="96">
                  <c:v>0.791304347826</c:v>
                </c:pt>
                <c:pt idx="97">
                  <c:v>0.8</c:v>
                </c:pt>
                <c:pt idx="98">
                  <c:v>0.808695652174</c:v>
                </c:pt>
                <c:pt idx="99">
                  <c:v>0.817391304348</c:v>
                </c:pt>
                <c:pt idx="100">
                  <c:v>0.826086956522</c:v>
                </c:pt>
                <c:pt idx="101">
                  <c:v>0.834782608696</c:v>
                </c:pt>
                <c:pt idx="102">
                  <c:v>0.84347826087</c:v>
                </c:pt>
                <c:pt idx="103">
                  <c:v>0.852173913043</c:v>
                </c:pt>
                <c:pt idx="104">
                  <c:v>0.860869565217</c:v>
                </c:pt>
                <c:pt idx="105">
                  <c:v>0.869565217391</c:v>
                </c:pt>
                <c:pt idx="106">
                  <c:v>0.878260869565</c:v>
                </c:pt>
                <c:pt idx="107">
                  <c:v>0.886956521739</c:v>
                </c:pt>
                <c:pt idx="108">
                  <c:v>0.895652173913</c:v>
                </c:pt>
                <c:pt idx="109">
                  <c:v>0.904347826087</c:v>
                </c:pt>
                <c:pt idx="110">
                  <c:v>0.913043478261</c:v>
                </c:pt>
                <c:pt idx="111">
                  <c:v>0.921739130435</c:v>
                </c:pt>
                <c:pt idx="112">
                  <c:v>0.930434782609</c:v>
                </c:pt>
                <c:pt idx="113">
                  <c:v>0.939130434783</c:v>
                </c:pt>
                <c:pt idx="114">
                  <c:v>0.947826086957</c:v>
                </c:pt>
                <c:pt idx="115">
                  <c:v>0.95652173913</c:v>
                </c:pt>
                <c:pt idx="116">
                  <c:v>0.965217391304</c:v>
                </c:pt>
                <c:pt idx="117">
                  <c:v>0.973913043478</c:v>
                </c:pt>
                <c:pt idx="118">
                  <c:v>0.982608695652</c:v>
                </c:pt>
                <c:pt idx="119">
                  <c:v>0.991304347826</c:v>
                </c:pt>
                <c:pt idx="120">
                  <c:v>1</c:v>
                </c:pt>
              </c:numCache>
            </c:numRef>
          </c:xVal>
          <c:yVal>
            <c:numRef>
              <c:f>'Chart Data'!$D$2:$D$122</c:f>
              <c:numCache>
                <c:formatCode>0.0</c:formatCode>
                <c:ptCount val="121"/>
                <c:pt idx="0">
                  <c:v>0</c:v>
                </c:pt>
                <c:pt idx="1">
                  <c:v>0</c:v>
                </c:pt>
                <c:pt idx="2">
                  <c:v>0.2</c:v>
                </c:pt>
                <c:pt idx="3">
                  <c:v>0.4</c:v>
                </c:pt>
                <c:pt idx="4">
                  <c:v>0.4</c:v>
                </c:pt>
                <c:pt idx="5">
                  <c:v>0.6</c:v>
                </c:pt>
                <c:pt idx="6">
                  <c:v>0.6</c:v>
                </c:pt>
                <c:pt idx="7">
                  <c:v>0.6</c:v>
                </c:pt>
                <c:pt idx="8">
                  <c:v>0.6</c:v>
                </c:pt>
                <c:pt idx="9">
                  <c:v>0.8</c:v>
                </c:pt>
                <c:pt idx="10">
                  <c:v>0.8</c:v>
                </c:pt>
                <c:pt idx="11">
                  <c:v>0.8</c:v>
                </c:pt>
                <c:pt idx="12">
                  <c:v>0.8</c:v>
                </c:pt>
                <c:pt idx="13">
                  <c:v>0.8</c:v>
                </c:pt>
                <c:pt idx="14">
                  <c:v>0.8</c:v>
                </c:pt>
                <c:pt idx="15">
                  <c:v>0.8</c:v>
                </c:pt>
                <c:pt idx="16">
                  <c:v>0.8</c:v>
                </c:pt>
                <c:pt idx="17">
                  <c:v>0.8</c:v>
                </c:pt>
                <c:pt idx="18">
                  <c:v>0.8</c:v>
                </c:pt>
                <c:pt idx="19">
                  <c:v>0.8</c:v>
                </c:pt>
                <c:pt idx="20">
                  <c:v>0.8</c:v>
                </c:pt>
                <c:pt idx="21">
                  <c:v>0.8</c:v>
                </c:pt>
                <c:pt idx="22">
                  <c:v>0.8</c:v>
                </c:pt>
                <c:pt idx="23">
                  <c:v>0.8</c:v>
                </c:pt>
                <c:pt idx="24">
                  <c:v>0.8</c:v>
                </c:pt>
                <c:pt idx="25">
                  <c:v>0.8</c:v>
                </c:pt>
                <c:pt idx="26">
                  <c:v>0.8</c:v>
                </c:pt>
                <c:pt idx="27">
                  <c:v>0.8</c:v>
                </c:pt>
                <c:pt idx="28">
                  <c:v>0.8</c:v>
                </c:pt>
                <c:pt idx="29">
                  <c:v>0.8</c:v>
                </c:pt>
                <c:pt idx="30">
                  <c:v>0.8</c:v>
                </c:pt>
                <c:pt idx="31">
                  <c:v>0.8</c:v>
                </c:pt>
                <c:pt idx="32">
                  <c:v>0.8</c:v>
                </c:pt>
                <c:pt idx="33">
                  <c:v>0.8</c:v>
                </c:pt>
                <c:pt idx="34">
                  <c:v>0.8</c:v>
                </c:pt>
                <c:pt idx="35">
                  <c:v>0.8</c:v>
                </c:pt>
                <c:pt idx="36">
                  <c:v>0.8</c:v>
                </c:pt>
                <c:pt idx="37">
                  <c:v>0.8</c:v>
                </c:pt>
                <c:pt idx="38">
                  <c:v>0.8</c:v>
                </c:pt>
                <c:pt idx="39">
                  <c:v>0.8</c:v>
                </c:pt>
                <c:pt idx="40">
                  <c:v>0.8</c:v>
                </c:pt>
                <c:pt idx="41">
                  <c:v>0.8</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er>
        <c:ser>
          <c:idx val="2"/>
          <c:order val="2"/>
          <c:tx>
            <c:v>Mean of six</c:v>
          </c:tx>
          <c:spPr>
            <a:ln xmlns:a="http://schemas.openxmlformats.org/drawingml/2006/main" w="28575">
              <a:solidFill>
                <a:srgbClr val="555555"/>
              </a:solidFill>
              <a:prstDash val="dot"/>
            </a:ln>
          </c:spPr>
          <c:marker>
            <c:symbol val="none"/>
          </c:marker>
          <c:xVal>
            <c:numRef>
              <c:f>'Chart Data'!$E$2:$E$122</c:f>
              <c:numCache>
                <c:formatCode>General</c:formatCode>
                <c:ptCount val="121"/>
                <c:pt idx="0">
                  <c:v>0</c:v>
                </c:pt>
                <c:pt idx="1">
                  <c:v>0</c:v>
                </c:pt>
                <c:pt idx="2">
                  <c:v>0</c:v>
                </c:pt>
                <c:pt idx="3">
                  <c:v>0</c:v>
                </c:pt>
                <c:pt idx="4">
                  <c:v>0.008695652174</c:v>
                </c:pt>
                <c:pt idx="5">
                  <c:v>0.017391304348</c:v>
                </c:pt>
                <c:pt idx="6">
                  <c:v>0.017391304348</c:v>
                </c:pt>
                <c:pt idx="7">
                  <c:v>0.026086956522</c:v>
                </c:pt>
                <c:pt idx="8">
                  <c:v>0.034782608696</c:v>
                </c:pt>
                <c:pt idx="9">
                  <c:v>0.04347826087</c:v>
                </c:pt>
                <c:pt idx="10">
                  <c:v>0.052173913043</c:v>
                </c:pt>
                <c:pt idx="11">
                  <c:v>0.060869565217</c:v>
                </c:pt>
                <c:pt idx="12">
                  <c:v>0.069565217391</c:v>
                </c:pt>
                <c:pt idx="13">
                  <c:v>0.078260869565</c:v>
                </c:pt>
                <c:pt idx="14">
                  <c:v>0.086956521739</c:v>
                </c:pt>
                <c:pt idx="15">
                  <c:v>0.095652173913</c:v>
                </c:pt>
                <c:pt idx="16">
                  <c:v>0.104347826087</c:v>
                </c:pt>
                <c:pt idx="17">
                  <c:v>0.113043478261</c:v>
                </c:pt>
                <c:pt idx="18">
                  <c:v>0.113043478261</c:v>
                </c:pt>
                <c:pt idx="19">
                  <c:v>0.121739130435</c:v>
                </c:pt>
                <c:pt idx="20">
                  <c:v>0.130434782609</c:v>
                </c:pt>
                <c:pt idx="21">
                  <c:v>0.139130434783</c:v>
                </c:pt>
                <c:pt idx="22">
                  <c:v>0.147826086957</c:v>
                </c:pt>
                <c:pt idx="23">
                  <c:v>0.15652173913</c:v>
                </c:pt>
                <c:pt idx="24">
                  <c:v>0.165217391304</c:v>
                </c:pt>
                <c:pt idx="25">
                  <c:v>0.173913043478</c:v>
                </c:pt>
                <c:pt idx="26">
                  <c:v>0.182608695652</c:v>
                </c:pt>
                <c:pt idx="27">
                  <c:v>0.191304347826</c:v>
                </c:pt>
                <c:pt idx="28">
                  <c:v>0.2</c:v>
                </c:pt>
                <c:pt idx="29">
                  <c:v>0.208695652174</c:v>
                </c:pt>
                <c:pt idx="30">
                  <c:v>0.217391304348</c:v>
                </c:pt>
                <c:pt idx="31">
                  <c:v>0.226086956522</c:v>
                </c:pt>
                <c:pt idx="32">
                  <c:v>0.234782608696</c:v>
                </c:pt>
                <c:pt idx="33">
                  <c:v>0.24347826087</c:v>
                </c:pt>
                <c:pt idx="34">
                  <c:v>0.252173913043</c:v>
                </c:pt>
                <c:pt idx="35">
                  <c:v>0.260869565217</c:v>
                </c:pt>
                <c:pt idx="36">
                  <c:v>0.269565217391</c:v>
                </c:pt>
                <c:pt idx="37">
                  <c:v>0.278260869565</c:v>
                </c:pt>
                <c:pt idx="38">
                  <c:v>0.286956521739</c:v>
                </c:pt>
                <c:pt idx="39">
                  <c:v>0.295652173913</c:v>
                </c:pt>
                <c:pt idx="40">
                  <c:v>0.304347826087</c:v>
                </c:pt>
                <c:pt idx="41">
                  <c:v>0.313043478261</c:v>
                </c:pt>
                <c:pt idx="42">
                  <c:v>0.321739130435</c:v>
                </c:pt>
                <c:pt idx="43">
                  <c:v>0.330434782609</c:v>
                </c:pt>
                <c:pt idx="44">
                  <c:v>0.339130434783</c:v>
                </c:pt>
                <c:pt idx="45">
                  <c:v>0.347826086957</c:v>
                </c:pt>
                <c:pt idx="46">
                  <c:v>0.35652173913</c:v>
                </c:pt>
                <c:pt idx="47">
                  <c:v>0.365217391304</c:v>
                </c:pt>
                <c:pt idx="48">
                  <c:v>0.373913043478</c:v>
                </c:pt>
                <c:pt idx="49">
                  <c:v>0.382608695652</c:v>
                </c:pt>
                <c:pt idx="50">
                  <c:v>0.391304347826</c:v>
                </c:pt>
                <c:pt idx="51">
                  <c:v>0.4</c:v>
                </c:pt>
                <c:pt idx="52">
                  <c:v>0.408695652174</c:v>
                </c:pt>
                <c:pt idx="53">
                  <c:v>0.417391304348</c:v>
                </c:pt>
                <c:pt idx="54">
                  <c:v>0.426086956522</c:v>
                </c:pt>
                <c:pt idx="55">
                  <c:v>0.434782608696</c:v>
                </c:pt>
                <c:pt idx="56">
                  <c:v>0.44347826087</c:v>
                </c:pt>
                <c:pt idx="57">
                  <c:v>0.452173913043</c:v>
                </c:pt>
                <c:pt idx="58">
                  <c:v>0.460869565217</c:v>
                </c:pt>
                <c:pt idx="59">
                  <c:v>0.469565217391</c:v>
                </c:pt>
                <c:pt idx="60">
                  <c:v>0.478260869565</c:v>
                </c:pt>
                <c:pt idx="61">
                  <c:v>0.486956521739</c:v>
                </c:pt>
                <c:pt idx="62">
                  <c:v>0.495652173913</c:v>
                </c:pt>
                <c:pt idx="63">
                  <c:v>0.504347826087</c:v>
                </c:pt>
                <c:pt idx="64">
                  <c:v>0.513043478261</c:v>
                </c:pt>
                <c:pt idx="65">
                  <c:v>0.521739130435</c:v>
                </c:pt>
                <c:pt idx="66">
                  <c:v>0.530434782609</c:v>
                </c:pt>
                <c:pt idx="67">
                  <c:v>0.539130434783</c:v>
                </c:pt>
                <c:pt idx="68">
                  <c:v>0.547826086957</c:v>
                </c:pt>
                <c:pt idx="69">
                  <c:v>0.55652173913</c:v>
                </c:pt>
                <c:pt idx="70">
                  <c:v>0.565217391304</c:v>
                </c:pt>
                <c:pt idx="71">
                  <c:v>0.573913043478</c:v>
                </c:pt>
                <c:pt idx="72">
                  <c:v>0.582608695652</c:v>
                </c:pt>
                <c:pt idx="73">
                  <c:v>0.591304347826</c:v>
                </c:pt>
                <c:pt idx="74">
                  <c:v>0.6</c:v>
                </c:pt>
                <c:pt idx="75">
                  <c:v>0.608695652174</c:v>
                </c:pt>
                <c:pt idx="76">
                  <c:v>0.617391304348</c:v>
                </c:pt>
                <c:pt idx="77">
                  <c:v>0.626086956522</c:v>
                </c:pt>
                <c:pt idx="78">
                  <c:v>0.634782608696</c:v>
                </c:pt>
                <c:pt idx="79">
                  <c:v>0.64347826087</c:v>
                </c:pt>
                <c:pt idx="80">
                  <c:v>0.652173913043</c:v>
                </c:pt>
                <c:pt idx="81">
                  <c:v>0.660869565217</c:v>
                </c:pt>
                <c:pt idx="82">
                  <c:v>0.669565217391</c:v>
                </c:pt>
                <c:pt idx="83">
                  <c:v>0.678260869565</c:v>
                </c:pt>
                <c:pt idx="84">
                  <c:v>0.686956521739</c:v>
                </c:pt>
                <c:pt idx="85">
                  <c:v>0.695652173913</c:v>
                </c:pt>
                <c:pt idx="86">
                  <c:v>0.704347826087</c:v>
                </c:pt>
                <c:pt idx="87">
                  <c:v>0.713043478261</c:v>
                </c:pt>
                <c:pt idx="88">
                  <c:v>0.721739130435</c:v>
                </c:pt>
                <c:pt idx="89">
                  <c:v>0.730434782609</c:v>
                </c:pt>
                <c:pt idx="90">
                  <c:v>0.739130434783</c:v>
                </c:pt>
                <c:pt idx="91">
                  <c:v>0.747826086957</c:v>
                </c:pt>
                <c:pt idx="92">
                  <c:v>0.75652173913</c:v>
                </c:pt>
                <c:pt idx="93">
                  <c:v>0.765217391304</c:v>
                </c:pt>
                <c:pt idx="94">
                  <c:v>0.773913043478</c:v>
                </c:pt>
                <c:pt idx="95">
                  <c:v>0.782608695652</c:v>
                </c:pt>
                <c:pt idx="96">
                  <c:v>0.791304347826</c:v>
                </c:pt>
                <c:pt idx="97">
                  <c:v>0.8</c:v>
                </c:pt>
                <c:pt idx="98">
                  <c:v>0.808695652174</c:v>
                </c:pt>
                <c:pt idx="99">
                  <c:v>0.817391304348</c:v>
                </c:pt>
                <c:pt idx="100">
                  <c:v>0.826086956522</c:v>
                </c:pt>
                <c:pt idx="101">
                  <c:v>0.834782608696</c:v>
                </c:pt>
                <c:pt idx="102">
                  <c:v>0.84347826087</c:v>
                </c:pt>
                <c:pt idx="103">
                  <c:v>0.852173913043</c:v>
                </c:pt>
                <c:pt idx="104">
                  <c:v>0.860869565217</c:v>
                </c:pt>
                <c:pt idx="105">
                  <c:v>0.869565217391</c:v>
                </c:pt>
                <c:pt idx="106">
                  <c:v>0.878260869565</c:v>
                </c:pt>
                <c:pt idx="107">
                  <c:v>0.886956521739</c:v>
                </c:pt>
                <c:pt idx="108">
                  <c:v>0.895652173913</c:v>
                </c:pt>
                <c:pt idx="109">
                  <c:v>0.904347826087</c:v>
                </c:pt>
                <c:pt idx="110">
                  <c:v>0.913043478261</c:v>
                </c:pt>
                <c:pt idx="111">
                  <c:v>0.921739130435</c:v>
                </c:pt>
                <c:pt idx="112">
                  <c:v>0.930434782609</c:v>
                </c:pt>
                <c:pt idx="113">
                  <c:v>0.939130434783</c:v>
                </c:pt>
                <c:pt idx="114">
                  <c:v>0.947826086957</c:v>
                </c:pt>
                <c:pt idx="115">
                  <c:v>0.95652173913</c:v>
                </c:pt>
                <c:pt idx="116">
                  <c:v>0.965217391304</c:v>
                </c:pt>
                <c:pt idx="117">
                  <c:v>0.973913043478</c:v>
                </c:pt>
                <c:pt idx="118">
                  <c:v>0.982608695652</c:v>
                </c:pt>
                <c:pt idx="119">
                  <c:v>0.991304347826</c:v>
                </c:pt>
                <c:pt idx="120">
                  <c:v>1</c:v>
                </c:pt>
              </c:numCache>
            </c:numRef>
          </c:xVal>
          <c:yVal>
            <c:numRef>
              <c:f>'Chart Data'!$F$2:$F$122</c:f>
              <c:numCache>
                <c:formatCode>0.0</c:formatCode>
                <c:ptCount val="121"/>
                <c:pt idx="0">
                  <c:v>0</c:v>
                </c:pt>
                <c:pt idx="1">
                  <c:v>0.2</c:v>
                </c:pt>
                <c:pt idx="2">
                  <c:v>0.4</c:v>
                </c:pt>
                <c:pt idx="3">
                  <c:v>0.6</c:v>
                </c:pt>
                <c:pt idx="4">
                  <c:v>0.6</c:v>
                </c:pt>
                <c:pt idx="5">
                  <c:v>0.6</c:v>
                </c:pt>
                <c:pt idx="6">
                  <c:v>0.8</c:v>
                </c:pt>
                <c:pt idx="7">
                  <c:v>0.8</c:v>
                </c:pt>
                <c:pt idx="8">
                  <c:v>0.8</c:v>
                </c:pt>
                <c:pt idx="9">
                  <c:v>0.8</c:v>
                </c:pt>
                <c:pt idx="10">
                  <c:v>0.8</c:v>
                </c:pt>
                <c:pt idx="11">
                  <c:v>0.8</c:v>
                </c:pt>
                <c:pt idx="12">
                  <c:v>0.8</c:v>
                </c:pt>
                <c:pt idx="13">
                  <c:v>0.8</c:v>
                </c:pt>
                <c:pt idx="14">
                  <c:v>0.8</c:v>
                </c:pt>
                <c:pt idx="15">
                  <c:v>0.8</c:v>
                </c:pt>
                <c:pt idx="16">
                  <c:v>0.8</c:v>
                </c:pt>
                <c:pt idx="17">
                  <c:v>0.8</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5715">
              <a:solidFill>
                <a:srgbClr val="D0D0D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Recall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F20E46C-4A41-40D1-9423-274B4E0CB7EC}"/>
              </a:ext>
            </a:extLst>
          </p:cNvPr>
          <p:cNvSpPr>
            <a:spLocks xmlns:a="http://schemas.openxmlformats.org/drawingml/2006/main" noGrp="1"/>
          </p:cNvSpPr>
          <p:nvPr/>
        </p:nvSpPr>
        <p:spPr>
          <a:xfrm xmlns:a="http://schemas.openxmlformats.org/drawingml/2006/main">
            <a:off x="685800" y="16002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00" b="1">
                <a:solidFill>
                  <a:srgbClr val="000000"/>
                </a:solidFill>
                <a:latin typeface="Arial"/>
                <a:ea typeface="Arial"/>
                <a:cs typeface="Arial"/>
              </a:defRPr>
            </a:pPr>
            <a:r>
              <a:rPr sz="4500" b="1">
                <a:solidFill>
                  <a:srgbClr val="000000"/>
                </a:solidFill>
                <a:latin typeface="Arial"/>
                <a:ea typeface="Arial"/>
                <a:cs typeface="Arial"/>
              </a:rPr>
              <a:t>CardioFusion</a:t>
            </a:r>
          </a:p>
        </p:txBody>
      </p:sp>
      <p:sp>
        <p:nvSpPr>
          <p:cNvPr id="2" name="">
            <a:extLst xmlns:a="http://schemas.openxmlformats.org/drawingml/2006/main">
              <a:ext uri="{FF2B5EF4-FFF2-40B4-BE49-F238E27FC236}">
                <a16:creationId xmlns:a16="http://schemas.microsoft.com/office/drawing/2014/main" id="{C0772CF3-F58D-4262-AA87-11D72AA05649}"/>
              </a:ext>
            </a:extLst>
          </p:cNvPr>
          <p:cNvSpPr>
            <a:spLocks xmlns:a="http://schemas.openxmlformats.org/drawingml/2006/main" noGrp="1"/>
          </p:cNvSpPr>
          <p:nvPr/>
        </p:nvSpPr>
        <p:spPr>
          <a:xfrm xmlns:a="http://schemas.openxmlformats.org/drawingml/2006/main">
            <a:off x="685800" y="26098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0">
                <a:solidFill>
                  <a:srgbClr val="000000"/>
                </a:solidFill>
                <a:latin typeface="Arial"/>
                <a:ea typeface="Arial"/>
                <a:cs typeface="Arial"/>
              </a:defRPr>
            </a:pPr>
            <a:r>
              <a:rPr sz="2700" b="0">
                <a:solidFill>
                  <a:srgbClr val="000000"/>
                </a:solidFill>
                <a:latin typeface="Arial"/>
                <a:ea typeface="Arial"/>
                <a:cs typeface="Arial"/>
              </a:rPr>
              <a:t>ECG model progress</a:t>
            </a:r>
          </a:p>
        </p:txBody>
      </p:sp>
    </p:spTree>
    <p:extLst>
      <p:ext uri="{BB962C8B-B14F-4D97-AF65-F5344CB8AC3E}">
        <p14:creationId xmlns:p14="http://schemas.microsoft.com/office/powerpoint/2010/main" val="20423320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C4F6A6-4279-4C3D-931B-CB1ABE0C919B}"/>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1. The first model used separate segments</a:t>
            </a:r>
          </a:p>
        </p:txBody>
      </p:sp>
      <p:sp>
        <p:nvSpPr>
          <p:cNvPr id="2" name="">
            <a:extLst xmlns:a="http://schemas.openxmlformats.org/drawingml/2006/main">
              <a:ext uri="{FF2B5EF4-FFF2-40B4-BE49-F238E27FC236}">
                <a16:creationId xmlns:a16="http://schemas.microsoft.com/office/drawing/2014/main" id="{24F5CB04-BB06-46F0-BACA-CEF0C42ABD93}"/>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Each site recording was split into five-second segments and treated as a separate input.</a:t>
            </a:r>
          </a:p>
        </p:txBody>
      </p:sp>
      <p:graphicFrame>
        <p:nvGraphicFramePr>
          <p:cNvPr id="9"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0.6858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63.8%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22.0%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64.2%</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32.8%</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0.7921</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65.8%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8.8%</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77.5%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15.9%</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139184-FD90-491E-BEAC-8C48BDC6EC14}"/>
              </a:ext>
            </a:extLst>
          </p:cNvPr>
          <p:cNvSpPr>
            <a:spLocks xmlns:a="http://schemas.openxmlformats.org/drawingml/2006/main" noGrp="1"/>
          </p:cNvSpPr>
          <p:nvPr/>
        </p:nvSpPr>
        <p:spPr>
          <a:xfrm xmlns:a="http://schemas.openxmlformats.org/drawingml/2006/main">
            <a:off x="609600" y="3800475"/>
            <a:ext cx="64484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A simple CNN with one input channel.</a:t>
            </a:r>
          </a:p>
          <a:p xmlns:a="http://schemas.openxmlformats.org/drawingml/2006/main">
            <a:r>
              <a:t/>
            </a:r>
          </a:p>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It caught some HFrEF cases, but produced</a:t>
            </a:r>
          </a:p>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too many false alarms.</a:t>
            </a:r>
          </a:p>
        </p:txBody>
      </p:sp>
      <p:sp>
        <p:nvSpPr>
          <p:cNvPr id="5" name="">
            <a:extLst xmlns:a="http://schemas.openxmlformats.org/drawingml/2006/main">
              <a:ext uri="{FF2B5EF4-FFF2-40B4-BE49-F238E27FC236}">
                <a16:creationId xmlns:a16="http://schemas.microsoft.com/office/drawing/2014/main" id="{AAE9F589-DC47-4221-8F4D-DB1B2E295C0E}"/>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2"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1802</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958</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27</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93</a:t>
                      </a:r>
                    </a:p>
                  </a:txBody>
                  <a:tcPr marL="95250" marR="95250" marT="0" marB="0">
                    <a:solidFill>
                      <a:srgbClr val="FFFFFF"/>
                    </a:solidFill>
                  </a:tcPr>
                </a:tc>
              </a:tr>
            </a:tbl>
          </a:graphicData>
        </a:graphic>
      </p:graphicFrame>
    </p:spTree>
    <p:extLst>
      <p:ext uri="{BB962C8B-B14F-4D97-AF65-F5344CB8AC3E}">
        <p14:creationId xmlns:p14="http://schemas.microsoft.com/office/powerpoint/2010/main" val="20558910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405F7E-CDE3-4D02-AB67-4817732F872C}"/>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2. Changes for a four-channel model</a:t>
            </a:r>
          </a:p>
        </p:txBody>
      </p:sp>
      <p:sp>
        <p:nvSpPr>
          <p:cNvPr id="2" name="">
            <a:extLst xmlns:a="http://schemas.openxmlformats.org/drawingml/2006/main">
              <a:ext uri="{FF2B5EF4-FFF2-40B4-BE49-F238E27FC236}">
                <a16:creationId xmlns:a16="http://schemas.microsoft.com/office/drawing/2014/main" id="{5AD1DDCD-21D1-43FE-ABBF-C9729858248C}"/>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Dataset review showed that each patient had four recordings that needed to be used together.</a:t>
            </a:r>
          </a:p>
        </p:txBody>
      </p:sp>
      <p:sp>
        <p:nvSpPr>
          <p:cNvPr id="3" name="">
            <a:extLst xmlns:a="http://schemas.openxmlformats.org/drawingml/2006/main">
              <a:ext uri="{FF2B5EF4-FFF2-40B4-BE49-F238E27FC236}">
                <a16:creationId xmlns:a16="http://schemas.microsoft.com/office/drawing/2014/main" id="{35C74273-2EC8-4878-9709-F5102BC19707}"/>
              </a:ext>
            </a:extLst>
          </p:cNvPr>
          <p:cNvSpPr>
            <a:spLocks xmlns:a="http://schemas.openxmlformats.org/drawingml/2006/main" noGrp="1"/>
          </p:cNvSpPr>
          <p:nvPr/>
        </p:nvSpPr>
        <p:spPr>
          <a:xfrm xmlns:a="http://schemas.openxmlformats.org/drawingml/2006/main">
            <a:off x="609600" y="2152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000000"/>
                </a:solidFill>
                <a:latin typeface="Arial"/>
                <a:ea typeface="Arial"/>
                <a:cs typeface="Arial"/>
              </a:defRPr>
            </a:pPr>
            <a:r>
              <a:rPr sz="2325" b="0">
                <a:solidFill>
                  <a:srgbClr val="000000"/>
                </a:solidFill>
                <a:latin typeface="Arial"/>
                <a:ea typeface="Arial"/>
                <a:cs typeface="Arial"/>
              </a:rPr>
              <a:t>Group APEX, LLSB, LUSB and RUSB by patient ID.</a:t>
            </a:r>
          </a:p>
        </p:txBody>
      </p:sp>
      <p:sp>
        <p:nvSpPr>
          <p:cNvPr id="4" name="">
            <a:extLst xmlns:a="http://schemas.openxmlformats.org/drawingml/2006/main">
              <a:ext uri="{FF2B5EF4-FFF2-40B4-BE49-F238E27FC236}">
                <a16:creationId xmlns:a16="http://schemas.microsoft.com/office/drawing/2014/main" id="{4E00E271-2E20-4472-B60B-6C1AA8AD0B56}"/>
              </a:ext>
            </a:extLst>
          </p:cNvPr>
          <p:cNvSpPr>
            <a:spLocks xmlns:a="http://schemas.openxmlformats.org/drawingml/2006/main" noGrp="1"/>
          </p:cNvSpPr>
          <p:nvPr/>
        </p:nvSpPr>
        <p:spPr>
          <a:xfrm xmlns:a="http://schemas.openxmlformats.org/drawingml/2006/main">
            <a:off x="609600" y="29718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000000"/>
                </a:solidFill>
                <a:latin typeface="Arial"/>
                <a:ea typeface="Arial"/>
                <a:cs typeface="Arial"/>
              </a:defRPr>
            </a:pPr>
            <a:r>
              <a:rPr sz="2325" b="0">
                <a:solidFill>
                  <a:srgbClr val="000000"/>
                </a:solidFill>
                <a:latin typeface="Arial"/>
                <a:ea typeface="Arial"/>
                <a:cs typeface="Arial"/>
              </a:rPr>
              <a:t>Stack the four 30-second signals into one input.</a:t>
            </a:r>
          </a:p>
        </p:txBody>
      </p:sp>
      <p:sp>
        <p:nvSpPr>
          <p:cNvPr id="5" name="">
            <a:extLst xmlns:a="http://schemas.openxmlformats.org/drawingml/2006/main">
              <a:ext uri="{FF2B5EF4-FFF2-40B4-BE49-F238E27FC236}">
                <a16:creationId xmlns:a16="http://schemas.microsoft.com/office/drawing/2014/main" id="{A33F7C27-80EB-43FA-A0E1-57C206EE7FED}"/>
              </a:ext>
            </a:extLst>
          </p:cNvPr>
          <p:cNvSpPr>
            <a:spLocks xmlns:a="http://schemas.openxmlformats.org/drawingml/2006/main" noGrp="1"/>
          </p:cNvSpPr>
          <p:nvPr/>
        </p:nvSpPr>
        <p:spPr>
          <a:xfrm xmlns:a="http://schemas.openxmlformats.org/drawingml/2006/main">
            <a:off x="609600" y="3790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000000"/>
                </a:solidFill>
                <a:latin typeface="Arial"/>
                <a:ea typeface="Arial"/>
                <a:cs typeface="Arial"/>
              </a:defRPr>
            </a:pPr>
            <a:r>
              <a:rPr sz="2325" b="0">
                <a:solidFill>
                  <a:srgbClr val="000000"/>
                </a:solidFill>
                <a:latin typeface="Arial"/>
                <a:ea typeface="Arial"/>
                <a:cs typeface="Arial"/>
              </a:rPr>
              <a:t>Change the CNN from one input channel to four.</a:t>
            </a:r>
          </a:p>
        </p:txBody>
      </p:sp>
      <p:sp>
        <p:nvSpPr>
          <p:cNvPr id="6" name="">
            <a:extLst xmlns:a="http://schemas.openxmlformats.org/drawingml/2006/main">
              <a:ext uri="{FF2B5EF4-FFF2-40B4-BE49-F238E27FC236}">
                <a16:creationId xmlns:a16="http://schemas.microsoft.com/office/drawing/2014/main" id="{4E199B0A-7E21-4AFD-A99C-460916A2DAFB}"/>
              </a:ext>
            </a:extLst>
          </p:cNvPr>
          <p:cNvSpPr>
            <a:spLocks xmlns:a="http://schemas.openxmlformats.org/drawingml/2006/main" noGrp="1"/>
          </p:cNvSpPr>
          <p:nvPr/>
        </p:nvSpPr>
        <p:spPr>
          <a:xfrm xmlns:a="http://schemas.openxmlformats.org/drawingml/2006/main">
            <a:off x="609600" y="46101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000000"/>
                </a:solidFill>
                <a:latin typeface="Arial"/>
                <a:ea typeface="Arial"/>
                <a:cs typeface="Arial"/>
              </a:defRPr>
            </a:pPr>
            <a:r>
              <a:rPr sz="2325" b="0">
                <a:solidFill>
                  <a:srgbClr val="000000"/>
                </a:solidFill>
                <a:latin typeface="Arial"/>
                <a:ea typeface="Arial"/>
                <a:cs typeface="Arial"/>
              </a:rPr>
              <a:t>Add residual convolution blocks and split the data by patient.</a:t>
            </a:r>
          </a:p>
        </p:txBody>
      </p:sp>
    </p:spTree>
    <p:extLst>
      <p:ext uri="{BB962C8B-B14F-4D97-AF65-F5344CB8AC3E}">
        <p14:creationId xmlns:p14="http://schemas.microsoft.com/office/powerpoint/2010/main" val="710979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DEF9C5-4ACE-4626-969A-77F0C59A0438}"/>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3. Four-channel model results</a:t>
            </a:r>
          </a:p>
        </p:txBody>
      </p:sp>
      <p:sp>
        <p:nvSpPr>
          <p:cNvPr id="2" name="">
            <a:extLst xmlns:a="http://schemas.openxmlformats.org/drawingml/2006/main">
              <a:ext uri="{FF2B5EF4-FFF2-40B4-BE49-F238E27FC236}">
                <a16:creationId xmlns:a16="http://schemas.microsoft.com/office/drawing/2014/main" id="{9CB51A3D-6436-49CF-BA8A-FF1AE21888FE}"/>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One patient now gives one input: APEX, LLSB, LUSB and RUSB, each with 30 seconds.</a:t>
            </a:r>
          </a:p>
        </p:txBody>
      </p:sp>
      <p:graphicFrame>
        <p:nvGraphicFramePr>
          <p:cNvPr id="9"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0.9564</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91.0%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57.9%</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91.7%</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71.0%</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0.9983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96.7%</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55.6%</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71.4%</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77A291C-CC70-4556-9DEC-BDCCD3DC8588}"/>
              </a:ext>
            </a:extLst>
          </p:cNvPr>
          <p:cNvSpPr>
            <a:spLocks xmlns:a="http://schemas.openxmlformats.org/drawingml/2006/main" noGrp="1"/>
          </p:cNvSpPr>
          <p:nvPr/>
        </p:nvSpPr>
        <p:spPr>
          <a:xfrm xmlns:a="http://schemas.openxmlformats.org/drawingml/2006/main">
            <a:off x="609600" y="3762375"/>
            <a:ext cx="66103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CNN now takes four channels together.</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Deeper residual blocks learn richer features.</a:t>
            </a:r>
          </a:p>
          <a:p xmlns:a="http://schemas.openxmlformats.org/drawingml/2006/main">
            <a:r>
              <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model can combine information from</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same patient across the four sites.</a:t>
            </a:r>
          </a:p>
        </p:txBody>
      </p:sp>
      <p:sp>
        <p:nvSpPr>
          <p:cNvPr id="5" name="">
            <a:extLst xmlns:a="http://schemas.openxmlformats.org/drawingml/2006/main">
              <a:ext uri="{FF2B5EF4-FFF2-40B4-BE49-F238E27FC236}">
                <a16:creationId xmlns:a16="http://schemas.microsoft.com/office/drawing/2014/main" id="{D818A3C4-08CF-483C-9785-C18C1693175D}"/>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2"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111</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4</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0</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5</a:t>
                      </a:r>
                    </a:p>
                  </a:txBody>
                  <a:tcPr marL="95250" marR="95250" marT="0" marB="0">
                    <a:solidFill>
                      <a:srgbClr val="FFFFFF"/>
                    </a:solidFill>
                  </a:tcPr>
                </a:tc>
              </a:tr>
            </a:tbl>
          </a:graphicData>
        </a:graphic>
      </p:graphicFrame>
    </p:spTree>
    <p:extLst>
      <p:ext uri="{BB962C8B-B14F-4D97-AF65-F5344CB8AC3E}">
        <p14:creationId xmlns:p14="http://schemas.microsoft.com/office/powerpoint/2010/main" val="4071492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A996E9-E14A-4D4B-8B41-21F64100359D}"/>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4. Training with five-second segments</a:t>
            </a:r>
          </a:p>
        </p:txBody>
      </p:sp>
      <p:sp>
        <p:nvSpPr>
          <p:cNvPr id="2" name="">
            <a:extLst xmlns:a="http://schemas.openxmlformats.org/drawingml/2006/main">
              <a:ext uri="{FF2B5EF4-FFF2-40B4-BE49-F238E27FC236}">
                <a16:creationId xmlns:a16="http://schemas.microsoft.com/office/drawing/2014/main" id="{8096D9E7-2DF7-4A60-AA99-365B7FCE244C}"/>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The four channels stay together. A fresh model learns from six windows per training patient.</a:t>
            </a:r>
          </a:p>
        </p:txBody>
      </p:sp>
      <p:graphicFrame>
        <p:nvGraphicFramePr>
          <p:cNvPr id="9" name=""/>
          <p:cNvGraphicFramePr/>
          <p:nvPr/>
        </p:nvGraphicFramePr>
        <p:xfrm>
          <a:off xmlns:a="http://schemas.openxmlformats.org/drawingml/2006/main" x="609600" y="1905000"/>
          <a:ext xmlns:a="http://schemas.openxmlformats.org/drawingml/2006/main" cx="10972800" cy="15716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523875">
                <a:tc>
                  <a:txBody>
                    <a:bodyPr>
                      <a:noAutofit/>
                    </a:bodyPr>
                    <a:lstStyle/>
                    <a:p>
                      <a:pPr algn="l"/>
                      <a:r>
                        <a:rPr sz="18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875" b="1">
                          <a:solidFill>
                            <a:srgbClr val="000000"/>
                          </a:solidFill>
                          <a:latin typeface="Arial"/>
                          <a:ea typeface="Arial"/>
                          <a:cs typeface="Arial"/>
                        </a:rPr>
                        <a:t>F1</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Validation</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0.8845</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87.0%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47.6%</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60.6%</a:t>
                      </a:r>
                    </a:p>
                  </a:txBody>
                  <a:tcPr marL="95250" marR="95250" marT="0" marB="0">
                    <a:solidFill>
                      <a:srgbClr val="FFFFFF"/>
                    </a:solidFill>
                  </a:tcPr>
                </a:tc>
              </a:tr>
              <a:tr h="523875">
                <a:tc>
                  <a:txBody>
                    <a:bodyPr>
                      <a:noAutofit/>
                    </a:bodyPr>
                    <a:lstStyle/>
                    <a:p>
                      <a:pPr algn="l"/>
                      <a:r>
                        <a:rPr sz="1875" b="0">
                          <a:solidFill>
                            <a:srgbClr val="000000"/>
                          </a:solidFill>
                          <a:latin typeface="Arial"/>
                          <a:ea typeface="Arial"/>
                          <a:cs typeface="Arial"/>
                        </a:rPr>
                        <a:t>Test</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0.9200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17.4%</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875" b="0">
                          <a:solidFill>
                            <a:srgbClr val="000000"/>
                          </a:solidFill>
                          <a:latin typeface="Arial"/>
                          <a:ea typeface="Arial"/>
                          <a:cs typeface="Arial"/>
                        </a:rPr>
                        <a:t>28.6%</a:t>
                      </a:r>
                    </a:p>
                  </a:txBody>
                  <a:tcPr marL="95250" marR="95250" marT="0" marB="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EA0E957-C89B-4799-BBF4-5E0870ED0874}"/>
              </a:ext>
            </a:extLst>
          </p:cNvPr>
          <p:cNvSpPr>
            <a:spLocks xmlns:a="http://schemas.openxmlformats.org/drawingml/2006/main" noGrp="1"/>
          </p:cNvSpPr>
          <p:nvPr/>
        </p:nvSpPr>
        <p:spPr>
          <a:xfrm xmlns:a="http://schemas.openxmlformats.org/drawingml/2006/main">
            <a:off x="609600" y="3762375"/>
            <a:ext cx="66389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These results use only the first five seconds.</a:t>
            </a:r>
          </a:p>
          <a:p xmlns:a="http://schemas.openxmlformats.org/drawingml/2006/main">
            <a:r>
              <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The model still finds useful information,</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but false positives rise from 4 to 19</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compared with the full 30-second model.</a:t>
            </a:r>
          </a:p>
        </p:txBody>
      </p:sp>
      <p:sp>
        <p:nvSpPr>
          <p:cNvPr id="5" name="">
            <a:extLst xmlns:a="http://schemas.openxmlformats.org/drawingml/2006/main">
              <a:ext uri="{FF2B5EF4-FFF2-40B4-BE49-F238E27FC236}">
                <a16:creationId xmlns:a16="http://schemas.microsoft.com/office/drawing/2014/main" id="{653859A3-38B3-4705-86F9-EB41B3EF097E}"/>
              </a:ext>
            </a:extLst>
          </p:cNvPr>
          <p:cNvSpPr>
            <a:spLocks xmlns:a="http://schemas.openxmlformats.org/drawingml/2006/main" noGrp="1"/>
          </p:cNvSpPr>
          <p:nvPr/>
        </p:nvSpPr>
        <p:spPr>
          <a:xfrm xmlns:a="http://schemas.openxmlformats.org/drawingml/2006/main">
            <a:off x="7381875" y="37623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0000"/>
                </a:solidFill>
                <a:latin typeface="Arial"/>
                <a:ea typeface="Arial"/>
                <a:cs typeface="Arial"/>
              </a:defRPr>
            </a:pPr>
            <a:r>
              <a:rPr sz="1725" b="1">
                <a:solidFill>
                  <a:srgbClr val="000000"/>
                </a:solidFill>
                <a:latin typeface="Arial"/>
                <a:ea typeface="Arial"/>
                <a:cs typeface="Arial"/>
              </a:rPr>
              <a:t>Test confusion matrix</a:t>
            </a:r>
          </a:p>
        </p:txBody>
      </p:sp>
      <p:graphicFrame>
        <p:nvGraphicFramePr>
          <p:cNvPr id="12" name=""/>
          <p:cNvGraphicFramePr/>
          <p:nvPr/>
        </p:nvGraphicFramePr>
        <p:xfrm>
          <a:off xmlns:a="http://schemas.openxmlformats.org/drawingml/2006/main" x="7381875" y="4181475"/>
          <a:ext xmlns:a="http://schemas.openxmlformats.org/drawingml/2006/main" cx="4191000" cy="1457325"/>
        </p:xfrm>
        <a:graphic xmlns:a="http://schemas.openxmlformats.org/drawingml/2006/main">
          <a:graphicData uri="http://schemas.openxmlformats.org/drawingml/2006/table">
            <a:tbl>
              <a:tblPr firstRow="0" firstCol="0" bandRow="0"/>
              <a:tblGrid>
                <a:gridCol w="1809750"/>
                <a:gridCol w="1428750"/>
                <a:gridCol w="952500"/>
              </a:tblGrid>
              <a:tr h="485775">
                <a:tc>
                  <a:txBody>
                    <a:bodyPr>
                      <a:noAutofit/>
                    </a:bodyPr>
                    <a:lstStyle/>
                    <a:p>
                      <a:pPr algn="l"/>
                      <a:r>
                        <a:rPr sz="1350" b="1">
                          <a:solidFill>
                            <a:srgbClr val="000000"/>
                          </a:solidFill>
                          <a:latin typeface="Arial"/>
                          <a:ea typeface="Arial"/>
                          <a:cs typeface="Arial"/>
                        </a:rPr>
                        <a:t>Actual / predicted</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1">
                          <a:solidFill>
                            <a:srgbClr val="000000"/>
                          </a:solidFill>
                          <a:latin typeface="Arial"/>
                          <a:ea typeface="Arial"/>
                          <a:cs typeface="Arial"/>
                        </a:rPr>
                        <a:t>HFrEF</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Non-HFrEF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96</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19</a:t>
                      </a:r>
                    </a:p>
                  </a:txBody>
                  <a:tcPr marL="95250" marR="95250" marT="0" marB="0">
                    <a:solidFill>
                      <a:srgbClr val="FFFFFF"/>
                    </a:solidFill>
                  </a:tcPr>
                </a:tc>
              </a:tr>
              <a:tr h="485775">
                <a:tc>
                  <a:txBody>
                    <a:bodyPr>
                      <a:noAutofit/>
                    </a:bodyPr>
                    <a:lstStyle/>
                    <a:p>
                      <a:pPr algn="l"/>
                      <a:r>
                        <a:rPr sz="1350" b="0">
                          <a:solidFill>
                            <a:srgbClr val="000000"/>
                          </a:solidFill>
                          <a:latin typeface="Arial"/>
                          <a:ea typeface="Arial"/>
                          <a:cs typeface="Arial"/>
                        </a:rPr>
                        <a:t>HFrEF</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1</a:t>
                      </a:r>
                    </a:p>
                  </a:txBody>
                  <a:tcPr marL="95250" marR="95250" marT="0" marB="0">
                    <a:solidFill>
                      <a:srgbClr val="FFFFFF"/>
                    </a:solidFill>
                  </a:tcPr>
                </a:tc>
                <a:tc>
                  <a:txBody>
                    <a:bodyPr>
                      <a:noAutofit/>
                    </a:bodyPr>
                    <a:lstStyle/>
                    <a:p>
                      <a:pPr algn="ctr"/>
                      <a:r>
                        <a:rPr sz="1350" b="0">
                          <a:solidFill>
                            <a:srgbClr val="000000"/>
                          </a:solidFill>
                          <a:latin typeface="Arial"/>
                          <a:ea typeface="Arial"/>
                          <a:cs typeface="Arial"/>
                        </a:rPr>
                        <a:t>4</a:t>
                      </a:r>
                    </a:p>
                  </a:txBody>
                  <a:tcPr marL="95250" marR="95250" marT="0" marB="0">
                    <a:solidFill>
                      <a:srgbClr val="FFFFFF"/>
                    </a:solidFill>
                  </a:tcPr>
                </a:tc>
              </a:tr>
            </a:tbl>
          </a:graphicData>
        </a:graphic>
      </p:graphicFrame>
    </p:spTree>
    <p:extLst>
      <p:ext uri="{BB962C8B-B14F-4D97-AF65-F5344CB8AC3E}">
        <p14:creationId xmlns:p14="http://schemas.microsoft.com/office/powerpoint/2010/main" val="17571363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54DE1E-AFAE-4302-BE5B-FBFFB8F7C273}"/>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5. Predictions change across segments</a:t>
            </a:r>
          </a:p>
        </p:txBody>
      </p:sp>
      <p:sp>
        <p:nvSpPr>
          <p:cNvPr id="2" name="">
            <a:extLst xmlns:a="http://schemas.openxmlformats.org/drawingml/2006/main">
              <a:ext uri="{FF2B5EF4-FFF2-40B4-BE49-F238E27FC236}">
                <a16:creationId xmlns:a16="http://schemas.microsoft.com/office/drawing/2014/main" id="{2D35574D-BC5C-4E9D-9D98-87F374D4B3C9}"/>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Test results for each five-second window, using the same model and cutoff.</a:t>
            </a:r>
          </a:p>
        </p:txBody>
      </p:sp>
      <p:sp>
        <p:nvSpPr>
          <p:cNvPr id="3" name="">
            <a:extLst xmlns:a="http://schemas.openxmlformats.org/drawingml/2006/main">
              <a:ext uri="{FF2B5EF4-FFF2-40B4-BE49-F238E27FC236}">
                <a16:creationId xmlns:a16="http://schemas.microsoft.com/office/drawing/2014/main" id="{EA64283E-32EF-4B58-BAA0-C6E1A591C511}"/>
              </a:ext>
            </a:extLst>
          </p:cNvPr>
          <p:cNvSpPr>
            <a:spLocks xmlns:a="http://schemas.openxmlformats.org/drawingml/2006/main" noGrp="1"/>
          </p:cNvSpPr>
          <p:nvPr/>
        </p:nvSpPr>
        <p:spPr>
          <a:xfrm xmlns:a="http://schemas.openxmlformats.org/drawingml/2006/main">
            <a:off x="609600" y="1905000"/>
            <a:ext cx="56197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All six predictions agree for 96 of 120 patients.</a:t>
            </a:r>
          </a:p>
          <a:p xmlns:a="http://schemas.openxmlformats.org/drawingml/2006/main">
            <a:r>
              <a:t/>
            </a:r>
          </a:p>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One HFrEF patient changes from negative</a:t>
            </a:r>
          </a:p>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in the first three windows to positive</a:t>
            </a:r>
          </a:p>
          <a:p xmlns:a="http://schemas.openxmlformats.org/drawingml/2006/main">
            <a:pPr>
              <a:defRPr sz="1950" b="0">
                <a:solidFill>
                  <a:srgbClr val="000000"/>
                </a:solidFill>
                <a:latin typeface="Arial"/>
                <a:ea typeface="Arial"/>
                <a:cs typeface="Arial"/>
              </a:defRPr>
            </a:pPr>
            <a:r>
              <a:rPr sz="1950" b="0">
                <a:solidFill>
                  <a:srgbClr val="000000"/>
                </a:solidFill>
                <a:latin typeface="Arial"/>
                <a:ea typeface="Arial"/>
                <a:cs typeface="Arial"/>
              </a:rPr>
              <a:t>in the last three.</a:t>
            </a:r>
          </a:p>
        </p:txBody>
      </p:sp>
      <p:graphicFrame>
        <p:nvGraphicFramePr>
          <p:cNvPr id="9" name="Chart"/>
          <p:cNvGraphicFramePr/>
          <p:nvPr/>
        </p:nvGraphicFramePr>
        <p:xfrm>
          <a:off xmlns:a="http://schemas.openxmlformats.org/drawingml/2006/main" x="6762750" y="1714500"/>
          <a:ext xmlns:a="http://schemas.openxmlformats.org/drawingml/2006/main" cx="4857750" cy="2047875"/>
        </p:xfrm>
        <a:graphic xmlns:a="http://schemas.openxmlformats.org/drawingml/2006/main">
          <a:graphicData uri="http://schemas.openxmlformats.org/drawingml/2006/chart">
            <c:chart xmlns:r="http://schemas.openxmlformats.org/officeDocument/2006/relationships" xmlns:c="http://schemas.openxmlformats.org/drawingml/2006/chart" r:id="R90c2ff52c69d4b96"/>
          </a:graphicData>
        </a:graphic>
      </p:graphicFrame>
      <p:graphicFrame>
        <p:nvGraphicFramePr>
          <p:cNvPr id="10" name=""/>
          <p:cNvGraphicFramePr/>
          <p:nvPr/>
        </p:nvGraphicFramePr>
        <p:xfrm>
          <a:off xmlns:a="http://schemas.openxmlformats.org/drawingml/2006/main" x="609600" y="3829050"/>
          <a:ext xmlns:a="http://schemas.openxmlformats.org/drawingml/2006/main" cx="10972800" cy="2066925"/>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295275">
                <a:tc>
                  <a:txBody>
                    <a:bodyPr>
                      <a:noAutofit/>
                    </a:bodyPr>
                    <a:lstStyle/>
                    <a:p>
                      <a:pPr algn="l"/>
                      <a:r>
                        <a:rPr sz="15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F1</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0-5s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0.9200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17.4%</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28.6%</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5-10s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0.9357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26.7%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40.0%</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10-15s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0.9670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89.2%</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25.0%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38.1%</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15-20s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0.9635</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88.3%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26.3%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41.7%</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20-25s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0.9739</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90.8%</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31.2%</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47.6%</a:t>
                      </a:r>
                    </a:p>
                  </a:txBody>
                  <a:tcPr marL="95250" marR="95250" marT="0" marB="0">
                    <a:solidFill>
                      <a:srgbClr val="FFFFFF"/>
                    </a:solidFill>
                  </a:tcPr>
                </a:tc>
              </a:tr>
              <a:tr h="295275">
                <a:tc>
                  <a:txBody>
                    <a:bodyPr>
                      <a:noAutofit/>
                    </a:bodyPr>
                    <a:lstStyle/>
                    <a:p>
                      <a:pPr algn="l"/>
                      <a:r>
                        <a:rPr sz="1575" b="0">
                          <a:solidFill>
                            <a:srgbClr val="000000"/>
                          </a:solidFill>
                          <a:latin typeface="Arial"/>
                          <a:ea typeface="Arial"/>
                          <a:cs typeface="Arial"/>
                        </a:rPr>
                        <a:t>25-30s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0.9896</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92.5%</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35.7%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52.6%</a:t>
                      </a:r>
                    </a:p>
                  </a:txBody>
                  <a:tcPr marL="95250" marR="95250" marT="0" marB="0">
                    <a:solidFill>
                      <a:srgbClr val="FFFFFF"/>
                    </a:solidFill>
                  </a:tcPr>
                </a:tc>
              </a:tr>
            </a:tbl>
          </a:graphicData>
        </a:graphic>
      </p:graphicFrame>
    </p:spTree>
    <p:extLst>
      <p:ext uri="{BB962C8B-B14F-4D97-AF65-F5344CB8AC3E}">
        <p14:creationId xmlns:p14="http://schemas.microsoft.com/office/powerpoint/2010/main" val="19463913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2DF120-AB8E-4D83-937F-40372ADF104E}"/>
              </a:ext>
            </a:extLst>
          </p:cNvPr>
          <p:cNvSpPr>
            <a:spLocks xmlns:a="http://schemas.openxmlformats.org/drawingml/2006/main" noGrp="1"/>
          </p:cNvSpPr>
          <p:nvPr/>
        </p:nvSpPr>
        <p:spPr>
          <a:xfrm xmlns:a="http://schemas.openxmlformats.org/drawingml/2006/main">
            <a:off x="609600" y="409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6. Averaging segments helps</a:t>
            </a:r>
          </a:p>
        </p:txBody>
      </p:sp>
      <p:sp>
        <p:nvSpPr>
          <p:cNvPr id="2" name="">
            <a:extLst xmlns:a="http://schemas.openxmlformats.org/drawingml/2006/main">
              <a:ext uri="{FF2B5EF4-FFF2-40B4-BE49-F238E27FC236}">
                <a16:creationId xmlns:a16="http://schemas.microsoft.com/office/drawing/2014/main" id="{0E63EFAA-3676-4155-A70F-AE5AD18D5C90}"/>
              </a:ext>
            </a:extLst>
          </p:cNvPr>
          <p:cNvSpPr>
            <a:spLocks xmlns:a="http://schemas.openxmlformats.org/drawingml/2006/main" noGrp="1"/>
          </p:cNvSpPr>
          <p:nvPr/>
        </p:nvSpPr>
        <p:spPr>
          <a:xfrm xmlns:a="http://schemas.openxmlformats.org/drawingml/2006/main">
            <a:off x="609600" y="1095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Comparison of one window, the mean of six window scores, and majority voting.</a:t>
            </a:r>
          </a:p>
        </p:txBody>
      </p:sp>
      <p:graphicFrame>
        <p:nvGraphicFramePr>
          <p:cNvPr id="8" name="Chart"/>
          <p:cNvGraphicFramePr/>
          <p:nvPr/>
        </p:nvGraphicFramePr>
        <p:xfrm>
          <a:off xmlns:a="http://schemas.openxmlformats.org/drawingml/2006/main" x="571500" y="1743075"/>
          <a:ext xmlns:a="http://schemas.openxmlformats.org/drawingml/2006/main" cx="5572125" cy="2505075"/>
        </p:xfrm>
        <a:graphic xmlns:a="http://schemas.openxmlformats.org/drawingml/2006/main">
          <a:graphicData uri="http://schemas.openxmlformats.org/drawingml/2006/chart">
            <c:chart xmlns:r="http://schemas.openxmlformats.org/officeDocument/2006/relationships" xmlns:c="http://schemas.openxmlformats.org/drawingml/2006/chart" r:id="R6b72f0b2be814183"/>
          </a:graphicData>
        </a:graphic>
      </p:graphicFrame>
      <p:sp>
        <p:nvSpPr>
          <p:cNvPr id="4" name="">
            <a:extLst xmlns:a="http://schemas.openxmlformats.org/drawingml/2006/main">
              <a:ext uri="{FF2B5EF4-FFF2-40B4-BE49-F238E27FC236}">
                <a16:creationId xmlns:a16="http://schemas.microsoft.com/office/drawing/2014/main" id="{EDE94E5F-6831-48E9-92B3-43B1E6614537}"/>
              </a:ext>
            </a:extLst>
          </p:cNvPr>
          <p:cNvSpPr>
            <a:spLocks xmlns:a="http://schemas.openxmlformats.org/drawingml/2006/main" noGrp="1"/>
          </p:cNvSpPr>
          <p:nvPr/>
        </p:nvSpPr>
        <p:spPr>
          <a:xfrm xmlns:a="http://schemas.openxmlformats.org/drawingml/2006/main">
            <a:off x="6381750" y="2190750"/>
            <a:ext cx="5238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Averaging reduces false positives from 19 to 4.</a:t>
            </a:r>
          </a:p>
          <a:p xmlns:a="http://schemas.openxmlformats.org/drawingml/2006/main">
            <a:pPr>
              <a:defRPr sz="1875" b="0">
                <a:solidFill>
                  <a:srgbClr val="000000"/>
                </a:solidFill>
                <a:latin typeface="Arial"/>
                <a:ea typeface="Arial"/>
                <a:cs typeface="Arial"/>
              </a:defRPr>
            </a:pPr>
            <a:r>
              <a:rPr sz="1875" b="0">
                <a:solidFill>
                  <a:srgbClr val="000000"/>
                </a:solidFill>
                <a:latin typeface="Arial"/>
                <a:ea typeface="Arial"/>
                <a:cs typeface="Arial"/>
              </a:rPr>
              <a:t>It still misses one HFrEF case.</a:t>
            </a:r>
          </a:p>
        </p:txBody>
      </p:sp>
      <p:graphicFrame>
        <p:nvGraphicFramePr>
          <p:cNvPr id="10" name=""/>
          <p:cNvGraphicFramePr/>
          <p:nvPr/>
        </p:nvGraphicFramePr>
        <p:xfrm>
          <a:off xmlns:a="http://schemas.openxmlformats.org/drawingml/2006/main" x="609600" y="4381500"/>
          <a:ext xmlns:a="http://schemas.openxmlformats.org/drawingml/2006/main" cx="10972800" cy="1581150"/>
        </p:xfrm>
        <a:graphic xmlns:a="http://schemas.openxmlformats.org/drawingml/2006/main">
          <a:graphicData uri="http://schemas.openxmlformats.org/drawingml/2006/table">
            <a:tbl>
              <a:tblPr firstRow="0" firstCol="0" bandRow="0"/>
              <a:tblGrid>
                <a:gridCol w="2495550"/>
                <a:gridCol w="1695450"/>
                <a:gridCol w="1695450"/>
                <a:gridCol w="1695450"/>
                <a:gridCol w="1695450"/>
                <a:gridCol w="1695450"/>
              </a:tblGrid>
              <a:tr h="316230">
                <a:tc>
                  <a:txBody>
                    <a:bodyPr>
                      <a:noAutofit/>
                    </a:bodyPr>
                    <a:lstStyle/>
                    <a:p>
                      <a:pPr algn="l"/>
                      <a:r>
                        <a:rPr sz="1575" b="1">
                          <a:solidFill>
                            <a:srgbClr val="000000"/>
                          </a:solidFill>
                          <a:latin typeface="Arial"/>
                          <a:ea typeface="Arial"/>
                          <a:cs typeface="Arial"/>
                        </a:rPr>
                        <a:t>Results</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AUROC</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Accuracy</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Precision</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Recall</a:t>
                      </a:r>
                    </a:p>
                  </a:txBody>
                  <a:tcPr marL="95250" marR="95250" marT="0" marB="0">
                    <a:solidFill>
                      <a:srgbClr val="FFFFFF"/>
                    </a:solidFill>
                  </a:tcPr>
                </a:tc>
                <a:tc>
                  <a:txBody>
                    <a:bodyPr>
                      <a:noAutofit/>
                    </a:bodyPr>
                    <a:lstStyle/>
                    <a:p>
                      <a:pPr algn="ctr"/>
                      <a:r>
                        <a:rPr sz="1575" b="1">
                          <a:solidFill>
                            <a:srgbClr val="000000"/>
                          </a:solidFill>
                          <a:latin typeface="Arial"/>
                          <a:ea typeface="Arial"/>
                          <a:cs typeface="Arial"/>
                        </a:rPr>
                        <a:t>F1</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First 5 seconds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0.9200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83.3%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17.4%</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28.6%</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Mean of six (30 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0.9739</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95.8%</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50.0%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61.5%</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Majority vote (30 s)</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0.9661</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92.5%</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33.3%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80.0%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47.1%</a:t>
                      </a:r>
                    </a:p>
                  </a:txBody>
                  <a:tcPr marL="95250" marR="95250" marT="0" marB="0">
                    <a:solidFill>
                      <a:srgbClr val="FFFFFF"/>
                    </a:solidFill>
                  </a:tcPr>
                </a:tc>
              </a:tr>
              <a:tr h="316230">
                <a:tc>
                  <a:txBody>
                    <a:bodyPr>
                      <a:noAutofit/>
                    </a:bodyPr>
                    <a:lstStyle/>
                    <a:p>
                      <a:pPr algn="l"/>
                      <a:r>
                        <a:rPr sz="1575" b="0">
                          <a:solidFill>
                            <a:srgbClr val="000000"/>
                          </a:solidFill>
                          <a:latin typeface="Arial"/>
                          <a:ea typeface="Arial"/>
                          <a:cs typeface="Arial"/>
                        </a:rPr>
                        <a:t>Full 30-second model</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0.9983</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96.7%</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55.6%</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100.0%</a:t>
                      </a:r>
                    </a:p>
                  </a:txBody>
                  <a:tcPr marL="95250" marR="95250" marT="0" marB="0">
                    <a:solidFill>
                      <a:srgbClr val="FFFFFF"/>
                    </a:solidFill>
                  </a:tcPr>
                </a:tc>
                <a:tc>
                  <a:txBody>
                    <a:bodyPr>
                      <a:noAutofit/>
                    </a:bodyPr>
                    <a:lstStyle/>
                    <a:p>
                      <a:pPr algn="ctr"/>
                      <a:r>
                        <a:rPr sz="1575" b="0">
                          <a:solidFill>
                            <a:srgbClr val="000000"/>
                          </a:solidFill>
                          <a:latin typeface="Arial"/>
                          <a:ea typeface="Arial"/>
                          <a:cs typeface="Arial"/>
                        </a:rPr>
                        <a:t>71.4%</a:t>
                      </a:r>
                    </a:p>
                  </a:txBody>
                  <a:tcPr marL="95250" marR="95250" marT="0" marB="0">
                    <a:solidFill>
                      <a:srgbClr val="FFFFFF"/>
                    </a:solidFill>
                  </a:tcPr>
                </a:tc>
              </a:tr>
            </a:tbl>
          </a:graphicData>
        </a:graphic>
      </p:graphicFrame>
    </p:spTree>
    <p:extLst>
      <p:ext uri="{BB962C8B-B14F-4D97-AF65-F5344CB8AC3E}">
        <p14:creationId xmlns:p14="http://schemas.microsoft.com/office/powerpoint/2010/main" val="20619079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2026-09-06T16:01:15.7080000Z</dcterms:created>
  <dcterms:modified xsi:type="dcterms:W3CDTF">2026-09-06T16:01:15.7090000Z</dcterms:modified>
</coreProperties>
</file>